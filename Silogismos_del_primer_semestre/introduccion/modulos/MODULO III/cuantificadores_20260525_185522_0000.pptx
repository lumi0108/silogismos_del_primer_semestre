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nton Italics" charset="1" panose="00000500000000000000"/>
      <p:regular r:id="rId24"/>
    </p:embeddedFont>
    <p:embeddedFont>
      <p:font typeface="Inter Bold" charset="1" panose="020B0802030000000004"/>
      <p:regular r:id="rId25"/>
    </p:embeddedFont>
    <p:embeddedFont>
      <p:font typeface="Anton" charset="1" panose="00000500000000000000"/>
      <p:regular r:id="rId26"/>
    </p:embeddedFont>
    <p:embeddedFont>
      <p:font typeface="Inter" charset="1" panose="020B0502030000000004"/>
      <p:regular r:id="rId27"/>
    </p:embeddedFont>
    <p:embeddedFont>
      <p:font typeface="Open Sans Bold" charset="1" panose="020B0806030504020204"/>
      <p:regular r:id="rId28"/>
    </p:embeddedFont>
    <p:embeddedFont>
      <p:font typeface="Rubik Bubbles" charset="1" panose="00000000000000000000"/>
      <p:regular r:id="rId29"/>
    </p:embeddedFont>
    <p:embeddedFont>
      <p:font typeface="Aran Bold" charset="1" panose="00000000000000000000"/>
      <p:regular r:id="rId30"/>
    </p:embeddedFont>
    <p:embeddedFont>
      <p:font typeface="Aran" charset="1" panose="00000000000000000000"/>
      <p:regular r:id="rId31"/>
    </p:embeddedFont>
    <p:embeddedFont>
      <p:font typeface="Agbalumo" charset="1" panose="00000000000000000000"/>
      <p:regular r:id="rId32"/>
    </p:embeddedFont>
    <p:embeddedFont>
      <p:font typeface="Open Sans" charset="1" panose="020B0606030504020204"/>
      <p:regular r:id="rId33"/>
    </p:embeddedFont>
    <p:embeddedFont>
      <p:font typeface="Dingos Stamp" charset="1" panose="03000A020404000000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4497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291358" y="4563338"/>
            <a:ext cx="22211183" cy="8117178"/>
          </a:xfrm>
          <a:custGeom>
            <a:avLst/>
            <a:gdLst/>
            <a:ahLst/>
            <a:cxnLst/>
            <a:rect r="r" b="b" t="t" l="l"/>
            <a:pathLst>
              <a:path h="8117178" w="22211183">
                <a:moveTo>
                  <a:pt x="0" y="0"/>
                </a:moveTo>
                <a:lnTo>
                  <a:pt x="22211182" y="0"/>
                </a:lnTo>
                <a:lnTo>
                  <a:pt x="22211182" y="8117178"/>
                </a:lnTo>
                <a:lnTo>
                  <a:pt x="0" y="8117178"/>
                </a:lnTo>
                <a:lnTo>
                  <a:pt x="0" y="0"/>
                </a:lnTo>
                <a:close/>
              </a:path>
            </a:pathLst>
          </a:custGeom>
          <a:blipFill>
            <a:blip r:embed="rId2"/>
            <a:stretch>
              <a:fillRect l="0" t="0" r="0" b="0"/>
            </a:stretch>
          </a:blipFill>
        </p:spPr>
      </p:sp>
      <p:sp>
        <p:nvSpPr>
          <p:cNvPr name="TextBox 3" id="3"/>
          <p:cNvSpPr txBox="true"/>
          <p:nvPr/>
        </p:nvSpPr>
        <p:spPr>
          <a:xfrm rot="0">
            <a:off x="1197334" y="1064036"/>
            <a:ext cx="13083090" cy="4671370"/>
          </a:xfrm>
          <a:prstGeom prst="rect">
            <a:avLst/>
          </a:prstGeom>
        </p:spPr>
        <p:txBody>
          <a:bodyPr anchor="t" rtlCol="false" tIns="0" lIns="0" bIns="0" rIns="0">
            <a:spAutoFit/>
          </a:bodyPr>
          <a:lstStyle/>
          <a:p>
            <a:pPr algn="ctr">
              <a:lnSpc>
                <a:spcPts val="18203"/>
              </a:lnSpc>
            </a:pPr>
            <a:r>
              <a:rPr lang="en-US" sz="16399" i="true" spc="-295">
                <a:solidFill>
                  <a:srgbClr val="FFFEFE"/>
                </a:solidFill>
                <a:latin typeface="Anton Italics"/>
                <a:ea typeface="Anton Italics"/>
                <a:cs typeface="Anton Italics"/>
                <a:sym typeface="Anton Italics"/>
              </a:rPr>
              <a:t>CUANTIFICADORES       LÓGICOS</a:t>
            </a:r>
          </a:p>
        </p:txBody>
      </p:sp>
      <p:sp>
        <p:nvSpPr>
          <p:cNvPr name="TextBox 4" id="4"/>
          <p:cNvSpPr txBox="true"/>
          <p:nvPr/>
        </p:nvSpPr>
        <p:spPr>
          <a:xfrm rot="0">
            <a:off x="10604688" y="5678256"/>
            <a:ext cx="4291191" cy="3986410"/>
          </a:xfrm>
          <a:prstGeom prst="rect">
            <a:avLst/>
          </a:prstGeom>
        </p:spPr>
        <p:txBody>
          <a:bodyPr anchor="t" rtlCol="false" tIns="0" lIns="0" bIns="0" rIns="0">
            <a:spAutoFit/>
          </a:bodyPr>
          <a:lstStyle/>
          <a:p>
            <a:pPr algn="l" marL="544237" indent="-272118" lvl="1">
              <a:lnSpc>
                <a:spcPts val="3529"/>
              </a:lnSpc>
              <a:buFont typeface="Arial"/>
              <a:buChar char="•"/>
            </a:pPr>
            <a:r>
              <a:rPr lang="en-US" b="true" sz="2520" u="sng">
                <a:solidFill>
                  <a:srgbClr val="FFFFFF"/>
                </a:solidFill>
                <a:latin typeface="Inter Bold"/>
                <a:ea typeface="Inter Bold"/>
                <a:cs typeface="Inter Bold"/>
                <a:sym typeface="Inter Bold"/>
              </a:rPr>
              <a:t> ESTUDIANTES</a:t>
            </a:r>
            <a:r>
              <a:rPr lang="en-US" b="true" sz="2520">
                <a:solidFill>
                  <a:srgbClr val="FFFFFF"/>
                </a:solidFill>
                <a:latin typeface="Inter Bold"/>
                <a:ea typeface="Inter Bold"/>
                <a:cs typeface="Inter Bold"/>
                <a:sym typeface="Inter Bold"/>
              </a:rPr>
              <a:t>:</a:t>
            </a:r>
          </a:p>
          <a:p>
            <a:pPr algn="l" marL="544237" indent="-272118" lvl="1">
              <a:lnSpc>
                <a:spcPts val="3529"/>
              </a:lnSpc>
              <a:buFont typeface="Arial"/>
              <a:buChar char="•"/>
            </a:pPr>
            <a:r>
              <a:rPr lang="en-US" b="true" sz="2520">
                <a:solidFill>
                  <a:srgbClr val="FFFFFF"/>
                </a:solidFill>
                <a:latin typeface="Inter Bold"/>
                <a:ea typeface="Inter Bold"/>
                <a:cs typeface="Inter Bold"/>
                <a:sym typeface="Inter Bold"/>
              </a:rPr>
              <a:t>  Y</a:t>
            </a:r>
            <a:r>
              <a:rPr lang="en-US" b="true" sz="2520">
                <a:solidFill>
                  <a:srgbClr val="FFFFFF"/>
                </a:solidFill>
                <a:latin typeface="Inter Bold"/>
                <a:ea typeface="Inter Bold"/>
                <a:cs typeface="Inter Bold"/>
                <a:sym typeface="Inter Bold"/>
              </a:rPr>
              <a:t>enyfer Sutil</a:t>
            </a:r>
          </a:p>
          <a:p>
            <a:pPr algn="l" marL="544237" indent="-272118" lvl="1">
              <a:lnSpc>
                <a:spcPts val="3529"/>
              </a:lnSpc>
              <a:buFont typeface="Arial"/>
              <a:buChar char="•"/>
            </a:pPr>
            <a:r>
              <a:rPr lang="en-US" b="true" sz="2520">
                <a:solidFill>
                  <a:srgbClr val="FFFFFF"/>
                </a:solidFill>
                <a:latin typeface="Inter Bold"/>
                <a:ea typeface="Inter Bold"/>
                <a:cs typeface="Inter Bold"/>
                <a:sym typeface="Inter Bold"/>
              </a:rPr>
              <a:t>  Luna Wuitrado</a:t>
            </a:r>
          </a:p>
          <a:p>
            <a:pPr algn="l" marL="544237" indent="-272118" lvl="1">
              <a:lnSpc>
                <a:spcPts val="3529"/>
              </a:lnSpc>
              <a:buFont typeface="Arial"/>
              <a:buChar char="•"/>
            </a:pPr>
            <a:r>
              <a:rPr lang="en-US" b="true" sz="2520">
                <a:solidFill>
                  <a:srgbClr val="FFFFFF"/>
                </a:solidFill>
                <a:latin typeface="Inter Bold"/>
                <a:ea typeface="Inter Bold"/>
                <a:cs typeface="Inter Bold"/>
                <a:sym typeface="Inter Bold"/>
              </a:rPr>
              <a:t>  Alondra Izarra</a:t>
            </a:r>
          </a:p>
          <a:p>
            <a:pPr algn="l" marL="544237" indent="-272118" lvl="1">
              <a:lnSpc>
                <a:spcPts val="3529"/>
              </a:lnSpc>
              <a:buFont typeface="Arial"/>
              <a:buChar char="•"/>
            </a:pPr>
            <a:r>
              <a:rPr lang="en-US" b="true" sz="2520">
                <a:solidFill>
                  <a:srgbClr val="FFFFFF"/>
                </a:solidFill>
                <a:latin typeface="Inter Bold"/>
                <a:ea typeface="Inter Bold"/>
                <a:cs typeface="Inter Bold"/>
                <a:sym typeface="Inter Bold"/>
              </a:rPr>
              <a:t>  Jhonaiker Roja</a:t>
            </a:r>
          </a:p>
          <a:p>
            <a:pPr algn="l" marL="544237" indent="-272118" lvl="1">
              <a:lnSpc>
                <a:spcPts val="3529"/>
              </a:lnSpc>
              <a:buFont typeface="Arial"/>
              <a:buChar char="•"/>
            </a:pPr>
            <a:r>
              <a:rPr lang="en-US" b="true" sz="2520">
                <a:solidFill>
                  <a:srgbClr val="FFFFFF"/>
                </a:solidFill>
                <a:latin typeface="Inter Bold"/>
                <a:ea typeface="Inter Bold"/>
                <a:cs typeface="Inter Bold"/>
                <a:sym typeface="Inter Bold"/>
              </a:rPr>
              <a:t>  Valentina Arias</a:t>
            </a:r>
          </a:p>
          <a:p>
            <a:pPr algn="l" marL="544237" indent="-272118" lvl="1">
              <a:lnSpc>
                <a:spcPts val="3529"/>
              </a:lnSpc>
              <a:buFont typeface="Arial"/>
              <a:buChar char="•"/>
            </a:pPr>
            <a:r>
              <a:rPr lang="en-US" b="true" sz="2520">
                <a:solidFill>
                  <a:srgbClr val="FFFFFF"/>
                </a:solidFill>
                <a:latin typeface="Inter Bold"/>
                <a:ea typeface="Inter Bold"/>
                <a:cs typeface="Inter Bold"/>
                <a:sym typeface="Inter Bold"/>
              </a:rPr>
              <a:t>  Luis Rdriguez </a:t>
            </a:r>
          </a:p>
          <a:p>
            <a:pPr algn="l" marL="544237" indent="-272118" lvl="1">
              <a:lnSpc>
                <a:spcPts val="3529"/>
              </a:lnSpc>
              <a:buFont typeface="Arial"/>
              <a:buChar char="•"/>
            </a:pPr>
            <a:r>
              <a:rPr lang="en-US" b="true" sz="2520">
                <a:solidFill>
                  <a:srgbClr val="FFFFFF"/>
                </a:solidFill>
                <a:latin typeface="Inter Bold"/>
                <a:ea typeface="Inter Bold"/>
                <a:cs typeface="Inter Bold"/>
                <a:sym typeface="Inter Bold"/>
              </a:rPr>
              <a:t>  Kelbys Vargas</a:t>
            </a:r>
          </a:p>
          <a:p>
            <a:pPr algn="l" marL="544237" indent="-272118" lvl="1">
              <a:lnSpc>
                <a:spcPts val="3529"/>
              </a:lnSpc>
              <a:buFont typeface="Arial"/>
              <a:buChar char="•"/>
            </a:pPr>
            <a:r>
              <a:rPr lang="en-US" b="true" sz="2520">
                <a:solidFill>
                  <a:srgbClr val="FFFFFF"/>
                </a:solidFill>
                <a:latin typeface="Inter Bold"/>
                <a:ea typeface="Inter Bold"/>
                <a:cs typeface="Inter Bold"/>
                <a:sym typeface="Inter Bold"/>
              </a:rPr>
              <a:t>  Keiver Rondón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674450" y="7608187"/>
            <a:ext cx="9709329" cy="0"/>
          </a:xfrm>
          <a:prstGeom prst="line">
            <a:avLst/>
          </a:prstGeom>
          <a:ln cap="flat" w="38100">
            <a:solidFill>
              <a:srgbClr val="24497B"/>
            </a:solidFill>
            <a:prstDash val="solid"/>
            <a:headEnd type="oval" len="lg" w="lg"/>
            <a:tailEnd type="oval" len="lg" w="lg"/>
          </a:ln>
        </p:spPr>
      </p:sp>
      <p:grpSp>
        <p:nvGrpSpPr>
          <p:cNvPr name="Group 3" id="3"/>
          <p:cNvGrpSpPr/>
          <p:nvPr/>
        </p:nvGrpSpPr>
        <p:grpSpPr>
          <a:xfrm rot="0">
            <a:off x="-514350" y="9603531"/>
            <a:ext cx="22951717" cy="3086100"/>
            <a:chOff x="0" y="0"/>
            <a:chExt cx="6044897" cy="812800"/>
          </a:xfrm>
        </p:grpSpPr>
        <p:sp>
          <p:nvSpPr>
            <p:cNvPr name="Freeform 4" id="4"/>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5" id="5"/>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Freeform 6" id="6"/>
          <p:cNvSpPr/>
          <p:nvPr/>
        </p:nvSpPr>
        <p:spPr>
          <a:xfrm flipH="false" flipV="false" rot="0">
            <a:off x="573124" y="1445795"/>
            <a:ext cx="6101326" cy="6046114"/>
          </a:xfrm>
          <a:custGeom>
            <a:avLst/>
            <a:gdLst/>
            <a:ahLst/>
            <a:cxnLst/>
            <a:rect r="r" b="b" t="t" l="l"/>
            <a:pathLst>
              <a:path h="6046114" w="6101326">
                <a:moveTo>
                  <a:pt x="0" y="0"/>
                </a:moveTo>
                <a:lnTo>
                  <a:pt x="6101326" y="0"/>
                </a:lnTo>
                <a:lnTo>
                  <a:pt x="6101326" y="6046114"/>
                </a:lnTo>
                <a:lnTo>
                  <a:pt x="0" y="6046114"/>
                </a:lnTo>
                <a:lnTo>
                  <a:pt x="0" y="0"/>
                </a:lnTo>
                <a:close/>
              </a:path>
            </a:pathLst>
          </a:custGeom>
          <a:blipFill>
            <a:blip r:embed="rId2"/>
            <a:stretch>
              <a:fillRect l="-35245" t="0" r="-40923" b="0"/>
            </a:stretch>
          </a:blipFill>
        </p:spPr>
      </p:sp>
      <p:sp>
        <p:nvSpPr>
          <p:cNvPr name="TextBox 7" id="7"/>
          <p:cNvSpPr txBox="true"/>
          <p:nvPr/>
        </p:nvSpPr>
        <p:spPr>
          <a:xfrm rot="0">
            <a:off x="6884046" y="1588670"/>
            <a:ext cx="9176601" cy="2051932"/>
          </a:xfrm>
          <a:prstGeom prst="rect">
            <a:avLst/>
          </a:prstGeom>
        </p:spPr>
        <p:txBody>
          <a:bodyPr anchor="t" rtlCol="false" tIns="0" lIns="0" bIns="0" rIns="0">
            <a:spAutoFit/>
          </a:bodyPr>
          <a:lstStyle/>
          <a:p>
            <a:pPr algn="ctr">
              <a:lnSpc>
                <a:spcPts val="7884"/>
              </a:lnSpc>
            </a:pPr>
            <a:r>
              <a:rPr lang="en-US" sz="7884" spc="-141">
                <a:solidFill>
                  <a:srgbClr val="24497B"/>
                </a:solidFill>
                <a:latin typeface="Anton"/>
                <a:ea typeface="Anton"/>
                <a:cs typeface="Anton"/>
                <a:sym typeface="Anton"/>
              </a:rPr>
              <a:t> INTRODUCCIÓN A LOS                CUANTIFICADORES </a:t>
            </a:r>
          </a:p>
        </p:txBody>
      </p:sp>
      <p:sp>
        <p:nvSpPr>
          <p:cNvPr name="TextBox 8" id="8"/>
          <p:cNvSpPr txBox="true"/>
          <p:nvPr/>
        </p:nvSpPr>
        <p:spPr>
          <a:xfrm rot="0">
            <a:off x="7457650" y="3795658"/>
            <a:ext cx="8029393" cy="3590797"/>
          </a:xfrm>
          <a:prstGeom prst="rect">
            <a:avLst/>
          </a:prstGeom>
        </p:spPr>
        <p:txBody>
          <a:bodyPr anchor="t" rtlCol="false" tIns="0" lIns="0" bIns="0" rIns="0">
            <a:spAutoFit/>
          </a:bodyPr>
          <a:lstStyle/>
          <a:p>
            <a:pPr algn="just">
              <a:lnSpc>
                <a:spcPts val="3182"/>
              </a:lnSpc>
            </a:pPr>
            <a:r>
              <a:rPr lang="en-US" sz="2273" b="true">
                <a:solidFill>
                  <a:srgbClr val="000000"/>
                </a:solidFill>
                <a:latin typeface="Inter Bold"/>
                <a:ea typeface="Inter Bold"/>
                <a:cs typeface="Inter Bold"/>
                <a:sym typeface="Inter Bold"/>
              </a:rPr>
              <a:t> En la introducción los cuantificadores lógicos son símbolos matemáticos utilizados en la lógica de predicados para determinar cuántos elementos de un conjunto específico cumplen con una determinada propiedad. Estos operadores son indispensables porque toman un enunciado abierto (o función proposicional con variables libres) y lo transforman en una proposición lógica completa con un valor de verdad definido como verdadero o falso.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4497B"/>
        </a:solidFill>
      </p:bgPr>
    </p:bg>
    <p:spTree>
      <p:nvGrpSpPr>
        <p:cNvPr id="1" name=""/>
        <p:cNvGrpSpPr/>
        <p:nvPr/>
      </p:nvGrpSpPr>
      <p:grpSpPr>
        <a:xfrm>
          <a:off x="0" y="0"/>
          <a:ext cx="0" cy="0"/>
          <a:chOff x="0" y="0"/>
          <a:chExt cx="0" cy="0"/>
        </a:xfrm>
      </p:grpSpPr>
      <p:sp>
        <p:nvSpPr>
          <p:cNvPr name="Freeform 2" id="2"/>
          <p:cNvSpPr/>
          <p:nvPr/>
        </p:nvSpPr>
        <p:spPr>
          <a:xfrm flipH="false" flipV="false" rot="0">
            <a:off x="11337401" y="2470863"/>
            <a:ext cx="5546446" cy="6356958"/>
          </a:xfrm>
          <a:custGeom>
            <a:avLst/>
            <a:gdLst/>
            <a:ahLst/>
            <a:cxnLst/>
            <a:rect r="r" b="b" t="t" l="l"/>
            <a:pathLst>
              <a:path h="6356958" w="5546446">
                <a:moveTo>
                  <a:pt x="0" y="0"/>
                </a:moveTo>
                <a:lnTo>
                  <a:pt x="5546446" y="0"/>
                </a:lnTo>
                <a:lnTo>
                  <a:pt x="5546446" y="6356958"/>
                </a:lnTo>
                <a:lnTo>
                  <a:pt x="0" y="6356958"/>
                </a:lnTo>
                <a:lnTo>
                  <a:pt x="0" y="0"/>
                </a:lnTo>
                <a:close/>
              </a:path>
            </a:pathLst>
          </a:custGeom>
          <a:blipFill>
            <a:blip r:embed="rId2"/>
            <a:stretch>
              <a:fillRect l="0" t="0" r="0" b="0"/>
            </a:stretch>
          </a:blipFill>
        </p:spPr>
      </p:sp>
      <p:sp>
        <p:nvSpPr>
          <p:cNvPr name="TextBox 3" id="3"/>
          <p:cNvSpPr txBox="true"/>
          <p:nvPr/>
        </p:nvSpPr>
        <p:spPr>
          <a:xfrm rot="0">
            <a:off x="1267044" y="983752"/>
            <a:ext cx="9006343" cy="2376537"/>
          </a:xfrm>
          <a:prstGeom prst="rect">
            <a:avLst/>
          </a:prstGeom>
        </p:spPr>
        <p:txBody>
          <a:bodyPr anchor="t" rtlCol="false" tIns="0" lIns="0" bIns="0" rIns="0">
            <a:spAutoFit/>
          </a:bodyPr>
          <a:lstStyle/>
          <a:p>
            <a:pPr algn="ctr">
              <a:lnSpc>
                <a:spcPts val="9189"/>
              </a:lnSpc>
            </a:pPr>
            <a:r>
              <a:rPr lang="en-US" sz="9189" spc="-165">
                <a:gradFill>
                  <a:gsLst>
                    <a:gs pos="0">
                      <a:srgbClr val="FF66C4">
                        <a:alpha val="100000"/>
                      </a:srgbClr>
                    </a:gs>
                    <a:gs pos="100000">
                      <a:srgbClr val="FFDE59">
                        <a:alpha val="100000"/>
                      </a:srgbClr>
                    </a:gs>
                  </a:gsLst>
                  <a:lin ang="0"/>
                </a:gradFill>
                <a:latin typeface="Anton"/>
                <a:ea typeface="Anton"/>
                <a:cs typeface="Anton"/>
                <a:sym typeface="Anton"/>
              </a:rPr>
              <a:t>QUÉ ES UN CUANTIFICADOR</a:t>
            </a:r>
          </a:p>
        </p:txBody>
      </p:sp>
      <p:sp>
        <p:nvSpPr>
          <p:cNvPr name="TextBox 4" id="4"/>
          <p:cNvSpPr txBox="true"/>
          <p:nvPr/>
        </p:nvSpPr>
        <p:spPr>
          <a:xfrm rot="0">
            <a:off x="727756" y="4476904"/>
            <a:ext cx="10084920" cy="3857507"/>
          </a:xfrm>
          <a:prstGeom prst="rect">
            <a:avLst/>
          </a:prstGeom>
        </p:spPr>
        <p:txBody>
          <a:bodyPr anchor="t" rtlCol="false" tIns="0" lIns="0" bIns="0" rIns="0">
            <a:spAutoFit/>
          </a:bodyPr>
          <a:lstStyle/>
          <a:p>
            <a:pPr algn="l">
              <a:lnSpc>
                <a:spcPts val="4435"/>
              </a:lnSpc>
            </a:pPr>
            <a:r>
              <a:rPr lang="en-US" sz="3168" b="true">
                <a:solidFill>
                  <a:srgbClr val="FFFFFF"/>
                </a:solidFill>
                <a:latin typeface="Inter Bold"/>
                <a:ea typeface="Inter Bold"/>
                <a:cs typeface="Inter Bold"/>
                <a:sym typeface="Inter Bold"/>
              </a:rPr>
              <a:t>Un cuantificador es un operador lógico que se utiliza en la lógica matemática y en la teoría de conjuntos para expresar la cantidad de elementos de un conjunto que cumplen una determinada propiedad o condición. Los cuantificadores permiten formular afirmaciones sobre todos los elementos de un conjunto o sobre algunos de ellos.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82266" y="4934926"/>
            <a:ext cx="1064272" cy="106427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382266" y="6485605"/>
            <a:ext cx="1064272" cy="106427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7B"/>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14350" y="9603531"/>
            <a:ext cx="22951717" cy="3086100"/>
            <a:chOff x="0" y="0"/>
            <a:chExt cx="6044897" cy="812800"/>
          </a:xfrm>
        </p:grpSpPr>
        <p:sp>
          <p:nvSpPr>
            <p:cNvPr name="Freeform 9" id="9"/>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10" id="10"/>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Freeform 11" id="11"/>
          <p:cNvSpPr/>
          <p:nvPr/>
        </p:nvSpPr>
        <p:spPr>
          <a:xfrm flipH="false" flipV="false" rot="0">
            <a:off x="7829800" y="4400894"/>
            <a:ext cx="6937261" cy="4446985"/>
          </a:xfrm>
          <a:custGeom>
            <a:avLst/>
            <a:gdLst/>
            <a:ahLst/>
            <a:cxnLst/>
            <a:rect r="r" b="b" t="t" l="l"/>
            <a:pathLst>
              <a:path h="4446985" w="6937261">
                <a:moveTo>
                  <a:pt x="0" y="0"/>
                </a:moveTo>
                <a:lnTo>
                  <a:pt x="6937262" y="0"/>
                </a:lnTo>
                <a:lnTo>
                  <a:pt x="6937262" y="4446985"/>
                </a:lnTo>
                <a:lnTo>
                  <a:pt x="0" y="4446985"/>
                </a:lnTo>
                <a:lnTo>
                  <a:pt x="0" y="0"/>
                </a:lnTo>
                <a:close/>
              </a:path>
            </a:pathLst>
          </a:custGeom>
          <a:blipFill>
            <a:blip r:embed="rId2"/>
            <a:stretch>
              <a:fillRect l="0" t="-23871" r="0" b="-11515"/>
            </a:stretch>
          </a:blipFill>
        </p:spPr>
      </p:sp>
      <p:sp>
        <p:nvSpPr>
          <p:cNvPr name="TextBox 12" id="12"/>
          <p:cNvSpPr txBox="true"/>
          <p:nvPr/>
        </p:nvSpPr>
        <p:spPr>
          <a:xfrm rot="0">
            <a:off x="5143137" y="585132"/>
            <a:ext cx="8273656" cy="2564353"/>
          </a:xfrm>
          <a:prstGeom prst="rect">
            <a:avLst/>
          </a:prstGeom>
        </p:spPr>
        <p:txBody>
          <a:bodyPr anchor="t" rtlCol="false" tIns="0" lIns="0" bIns="0" rIns="0">
            <a:spAutoFit/>
          </a:bodyPr>
          <a:lstStyle/>
          <a:p>
            <a:pPr algn="l">
              <a:lnSpc>
                <a:spcPts val="9833"/>
              </a:lnSpc>
            </a:pPr>
            <a:r>
              <a:rPr lang="en-US" sz="9833" spc="-177">
                <a:solidFill>
                  <a:srgbClr val="24497B"/>
                </a:solidFill>
                <a:latin typeface="Anton"/>
                <a:ea typeface="Anton"/>
                <a:cs typeface="Anton"/>
                <a:sym typeface="Anton"/>
              </a:rPr>
              <a:t>      </a:t>
            </a:r>
            <a:r>
              <a:rPr lang="en-US" sz="9833" spc="-177">
                <a:gradFill>
                  <a:gsLst>
                    <a:gs pos="0">
                      <a:srgbClr val="FF66C4">
                        <a:alpha val="100000"/>
                      </a:srgbClr>
                    </a:gs>
                    <a:gs pos="100000">
                      <a:srgbClr val="FFDE59">
                        <a:alpha val="100000"/>
                      </a:srgbClr>
                    </a:gs>
                  </a:gsLst>
                  <a:lin ang="0"/>
                </a:gradFill>
                <a:latin typeface="Anton"/>
                <a:ea typeface="Anton"/>
                <a:cs typeface="Anton"/>
                <a:sym typeface="Anton"/>
              </a:rPr>
              <a:t>TIPOS DE CUANTIFICADORES</a:t>
            </a:r>
          </a:p>
        </p:txBody>
      </p:sp>
      <p:sp>
        <p:nvSpPr>
          <p:cNvPr name="TextBox 13" id="13"/>
          <p:cNvSpPr txBox="true"/>
          <p:nvPr/>
        </p:nvSpPr>
        <p:spPr>
          <a:xfrm rot="0">
            <a:off x="2672199" y="3320266"/>
            <a:ext cx="12132771" cy="852028"/>
          </a:xfrm>
          <a:prstGeom prst="rect">
            <a:avLst/>
          </a:prstGeom>
        </p:spPr>
        <p:txBody>
          <a:bodyPr anchor="t" rtlCol="false" tIns="0" lIns="0" bIns="0" rIns="0">
            <a:spAutoFit/>
          </a:bodyPr>
          <a:lstStyle/>
          <a:p>
            <a:pPr algn="l">
              <a:lnSpc>
                <a:spcPts val="3437"/>
              </a:lnSpc>
            </a:pPr>
            <a:r>
              <a:rPr lang="en-US" sz="2455">
                <a:solidFill>
                  <a:srgbClr val="000000"/>
                </a:solidFill>
                <a:latin typeface="Inter"/>
                <a:ea typeface="Inter"/>
                <a:cs typeface="Inter"/>
                <a:sym typeface="Inter"/>
              </a:rPr>
              <a:t>Utilizados para convertir enunciados con variables en proposiciones lógicas verdaderas o falsas. Los principales son:</a:t>
            </a:r>
          </a:p>
        </p:txBody>
      </p:sp>
      <p:sp>
        <p:nvSpPr>
          <p:cNvPr name="TextBox 14" id="14"/>
          <p:cNvSpPr txBox="true"/>
          <p:nvPr/>
        </p:nvSpPr>
        <p:spPr>
          <a:xfrm rot="0">
            <a:off x="3529799" y="6818981"/>
            <a:ext cx="4337233" cy="730896"/>
          </a:xfrm>
          <a:prstGeom prst="rect">
            <a:avLst/>
          </a:prstGeom>
        </p:spPr>
        <p:txBody>
          <a:bodyPr anchor="t" rtlCol="false" tIns="0" lIns="0" bIns="0" rIns="0">
            <a:spAutoFit/>
          </a:bodyPr>
          <a:lstStyle/>
          <a:p>
            <a:pPr algn="l">
              <a:lnSpc>
                <a:spcPts val="2842"/>
              </a:lnSpc>
            </a:pPr>
            <a:r>
              <a:rPr lang="en-US" sz="2842" spc="-51">
                <a:solidFill>
                  <a:srgbClr val="24497B"/>
                </a:solidFill>
                <a:latin typeface="Anton"/>
                <a:ea typeface="Anton"/>
                <a:cs typeface="Anton"/>
                <a:sym typeface="Anton"/>
              </a:rPr>
              <a:t>Cuantificador existencial (∃)</a:t>
            </a:r>
          </a:p>
          <a:p>
            <a:pPr algn="l">
              <a:lnSpc>
                <a:spcPts val="2842"/>
              </a:lnSpc>
            </a:pPr>
          </a:p>
        </p:txBody>
      </p:sp>
      <p:sp>
        <p:nvSpPr>
          <p:cNvPr name="TextBox 15" id="15"/>
          <p:cNvSpPr txBox="true"/>
          <p:nvPr/>
        </p:nvSpPr>
        <p:spPr>
          <a:xfrm rot="0">
            <a:off x="2650604" y="4975890"/>
            <a:ext cx="527597" cy="887095"/>
          </a:xfrm>
          <a:prstGeom prst="rect">
            <a:avLst/>
          </a:prstGeom>
        </p:spPr>
        <p:txBody>
          <a:bodyPr anchor="t" rtlCol="false" tIns="0" lIns="0" bIns="0" rIns="0">
            <a:spAutoFit/>
          </a:bodyPr>
          <a:lstStyle/>
          <a:p>
            <a:pPr algn="ctr">
              <a:lnSpc>
                <a:spcPts val="7279"/>
              </a:lnSpc>
            </a:pPr>
            <a:r>
              <a:rPr lang="en-US" sz="5199" b="true">
                <a:solidFill>
                  <a:srgbClr val="F9FAF4"/>
                </a:solidFill>
                <a:latin typeface="Open Sans Bold"/>
                <a:ea typeface="Open Sans Bold"/>
                <a:cs typeface="Open Sans Bold"/>
                <a:sym typeface="Open Sans Bold"/>
              </a:rPr>
              <a:t>1</a:t>
            </a:r>
          </a:p>
        </p:txBody>
      </p:sp>
      <p:sp>
        <p:nvSpPr>
          <p:cNvPr name="TextBox 16" id="16"/>
          <p:cNvSpPr txBox="true"/>
          <p:nvPr/>
        </p:nvSpPr>
        <p:spPr>
          <a:xfrm rot="0">
            <a:off x="2725911" y="6528468"/>
            <a:ext cx="376982" cy="887095"/>
          </a:xfrm>
          <a:prstGeom prst="rect">
            <a:avLst/>
          </a:prstGeom>
        </p:spPr>
        <p:txBody>
          <a:bodyPr anchor="t" rtlCol="false" tIns="0" lIns="0" bIns="0" rIns="0">
            <a:spAutoFit/>
          </a:bodyPr>
          <a:lstStyle/>
          <a:p>
            <a:pPr algn="ctr">
              <a:lnSpc>
                <a:spcPts val="7279"/>
              </a:lnSpc>
            </a:pPr>
            <a:r>
              <a:rPr lang="en-US" sz="5199" b="true">
                <a:solidFill>
                  <a:srgbClr val="FFFEFE"/>
                </a:solidFill>
                <a:latin typeface="Open Sans Bold"/>
                <a:ea typeface="Open Sans Bold"/>
                <a:cs typeface="Open Sans Bold"/>
                <a:sym typeface="Open Sans Bold"/>
              </a:rPr>
              <a:t>2</a:t>
            </a:r>
          </a:p>
        </p:txBody>
      </p:sp>
      <p:sp>
        <p:nvSpPr>
          <p:cNvPr name="TextBox 17" id="17"/>
          <p:cNvSpPr txBox="true"/>
          <p:nvPr/>
        </p:nvSpPr>
        <p:spPr>
          <a:xfrm rot="0">
            <a:off x="3529799" y="5200650"/>
            <a:ext cx="4216740" cy="730896"/>
          </a:xfrm>
          <a:prstGeom prst="rect">
            <a:avLst/>
          </a:prstGeom>
        </p:spPr>
        <p:txBody>
          <a:bodyPr anchor="t" rtlCol="false" tIns="0" lIns="0" bIns="0" rIns="0">
            <a:spAutoFit/>
          </a:bodyPr>
          <a:lstStyle/>
          <a:p>
            <a:pPr algn="l">
              <a:lnSpc>
                <a:spcPts val="2842"/>
              </a:lnSpc>
            </a:pPr>
            <a:r>
              <a:rPr lang="en-US" sz="2842" spc="-51">
                <a:solidFill>
                  <a:srgbClr val="24497B"/>
                </a:solidFill>
                <a:latin typeface="Anton"/>
                <a:ea typeface="Anton"/>
                <a:cs typeface="Anton"/>
                <a:sym typeface="Anton"/>
              </a:rPr>
              <a:t> Cuantificador universal (∀)</a:t>
            </a:r>
          </a:p>
          <a:p>
            <a:pPr algn="l">
              <a:lnSpc>
                <a:spcPts val="284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0615" y="3301747"/>
            <a:ext cx="3823023" cy="4114800"/>
          </a:xfrm>
          <a:custGeom>
            <a:avLst/>
            <a:gdLst/>
            <a:ahLst/>
            <a:cxnLst/>
            <a:rect r="r" b="b" t="t" l="l"/>
            <a:pathLst>
              <a:path h="4114800" w="3823023">
                <a:moveTo>
                  <a:pt x="0" y="0"/>
                </a:moveTo>
                <a:lnTo>
                  <a:pt x="3823023" y="0"/>
                </a:lnTo>
                <a:lnTo>
                  <a:pt x="382302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86400" y="4110228"/>
            <a:ext cx="7315200" cy="2066544"/>
          </a:xfrm>
          <a:custGeom>
            <a:avLst/>
            <a:gdLst/>
            <a:ahLst/>
            <a:cxnLst/>
            <a:rect r="r" b="b" t="t" l="l"/>
            <a:pathLst>
              <a:path h="2066544" w="7315200">
                <a:moveTo>
                  <a:pt x="0" y="0"/>
                </a:moveTo>
                <a:lnTo>
                  <a:pt x="7315200" y="0"/>
                </a:lnTo>
                <a:lnTo>
                  <a:pt x="7315200" y="2066544"/>
                </a:lnTo>
                <a:lnTo>
                  <a:pt x="0" y="20665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052772" y="7864222"/>
            <a:ext cx="1068179" cy="1491112"/>
          </a:xfrm>
          <a:custGeom>
            <a:avLst/>
            <a:gdLst/>
            <a:ahLst/>
            <a:cxnLst/>
            <a:rect r="r" b="b" t="t" l="l"/>
            <a:pathLst>
              <a:path h="1491112" w="1068179">
                <a:moveTo>
                  <a:pt x="0" y="0"/>
                </a:moveTo>
                <a:lnTo>
                  <a:pt x="1068179" y="0"/>
                </a:lnTo>
                <a:lnTo>
                  <a:pt x="1068179" y="1491112"/>
                </a:lnTo>
                <a:lnTo>
                  <a:pt x="0" y="14911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151964" y="614549"/>
            <a:ext cx="11649521" cy="1566544"/>
          </a:xfrm>
          <a:prstGeom prst="rect">
            <a:avLst/>
          </a:prstGeom>
        </p:spPr>
        <p:txBody>
          <a:bodyPr anchor="t" rtlCol="false" tIns="0" lIns="0" bIns="0" rIns="0">
            <a:spAutoFit/>
          </a:bodyPr>
          <a:lstStyle/>
          <a:p>
            <a:pPr algn="ctr">
              <a:lnSpc>
                <a:spcPts val="12880"/>
              </a:lnSpc>
            </a:pPr>
            <a:r>
              <a:rPr lang="en-US" sz="9200">
                <a:gradFill>
                  <a:gsLst>
                    <a:gs pos="0">
                      <a:srgbClr val="FF66C4">
                        <a:alpha val="100000"/>
                      </a:srgbClr>
                    </a:gs>
                    <a:gs pos="100000">
                      <a:srgbClr val="FFDE59">
                        <a:alpha val="100000"/>
                      </a:srgbClr>
                    </a:gs>
                  </a:gsLst>
                  <a:lin ang="0"/>
                </a:gradFill>
                <a:latin typeface="Anton"/>
                <a:ea typeface="Anton"/>
                <a:cs typeface="Anton"/>
                <a:sym typeface="Anton"/>
              </a:rPr>
              <a:t>CUANTIFICADOR UNIVERSAL:</a:t>
            </a:r>
          </a:p>
        </p:txBody>
      </p:sp>
      <p:sp>
        <p:nvSpPr>
          <p:cNvPr name="TextBox 6" id="6"/>
          <p:cNvSpPr txBox="true"/>
          <p:nvPr/>
        </p:nvSpPr>
        <p:spPr>
          <a:xfrm rot="0">
            <a:off x="3823023" y="2679266"/>
            <a:ext cx="12240816" cy="1811020"/>
          </a:xfrm>
          <a:prstGeom prst="rect">
            <a:avLst/>
          </a:prstGeom>
        </p:spPr>
        <p:txBody>
          <a:bodyPr anchor="t" rtlCol="false" tIns="0" lIns="0" bIns="0" rIns="0">
            <a:spAutoFit/>
          </a:bodyPr>
          <a:lstStyle/>
          <a:p>
            <a:pPr algn="ctr">
              <a:lnSpc>
                <a:spcPts val="7279"/>
              </a:lnSpc>
            </a:pPr>
            <a:r>
              <a:rPr lang="en-US" sz="5199" b="true">
                <a:solidFill>
                  <a:srgbClr val="000000"/>
                </a:solidFill>
                <a:latin typeface="Open Sans Bold"/>
                <a:ea typeface="Open Sans Bold"/>
                <a:cs typeface="Open Sans Bold"/>
                <a:sym typeface="Open Sans Bold"/>
              </a:rPr>
              <a:t>SU SÍMBOLO ES REPRESENTADO POR: </a:t>
            </a:r>
          </a:p>
          <a:p>
            <a:pPr algn="ctr">
              <a:lnSpc>
                <a:spcPts val="7279"/>
              </a:lnSpc>
            </a:pPr>
          </a:p>
        </p:txBody>
      </p:sp>
      <p:sp>
        <p:nvSpPr>
          <p:cNvPr name="TextBox 7" id="7"/>
          <p:cNvSpPr txBox="true"/>
          <p:nvPr/>
        </p:nvSpPr>
        <p:spPr>
          <a:xfrm rot="0">
            <a:off x="8120951" y="3320910"/>
            <a:ext cx="2374255" cy="1566544"/>
          </a:xfrm>
          <a:prstGeom prst="rect">
            <a:avLst/>
          </a:prstGeom>
        </p:spPr>
        <p:txBody>
          <a:bodyPr anchor="t" rtlCol="false" tIns="0" lIns="0" bIns="0" rIns="0">
            <a:spAutoFit/>
          </a:bodyPr>
          <a:lstStyle/>
          <a:p>
            <a:pPr algn="ctr">
              <a:lnSpc>
                <a:spcPts val="12880"/>
              </a:lnSpc>
            </a:pPr>
            <a:r>
              <a:rPr lang="en-US" sz="9200">
                <a:solidFill>
                  <a:srgbClr val="000000"/>
                </a:solidFill>
                <a:latin typeface="Rubik Bubbles"/>
                <a:ea typeface="Rubik Bubbles"/>
                <a:cs typeface="Rubik Bubbles"/>
                <a:sym typeface="Rubik Bubbles"/>
              </a:rPr>
              <a:t>(∀) </a:t>
            </a:r>
          </a:p>
        </p:txBody>
      </p:sp>
      <p:sp>
        <p:nvSpPr>
          <p:cNvPr name="TextBox 8" id="8"/>
          <p:cNvSpPr txBox="true"/>
          <p:nvPr/>
        </p:nvSpPr>
        <p:spPr>
          <a:xfrm rot="0">
            <a:off x="1760896" y="4652327"/>
            <a:ext cx="15502562" cy="1811020"/>
          </a:xfrm>
          <a:prstGeom prst="rect">
            <a:avLst/>
          </a:prstGeom>
        </p:spPr>
        <p:txBody>
          <a:bodyPr anchor="t" rtlCol="false" tIns="0" lIns="0" bIns="0" rIns="0">
            <a:spAutoFit/>
          </a:bodyPr>
          <a:lstStyle/>
          <a:p>
            <a:pPr algn="ctr">
              <a:lnSpc>
                <a:spcPts val="7279"/>
              </a:lnSpc>
            </a:pPr>
            <a:r>
              <a:rPr lang="en-US" b="true" sz="5199">
                <a:gradFill>
                  <a:gsLst>
                    <a:gs pos="0">
                      <a:srgbClr val="000000">
                        <a:alpha val="100000"/>
                      </a:srgbClr>
                    </a:gs>
                    <a:gs pos="100000">
                      <a:srgbClr val="3533CD">
                        <a:alpha val="100000"/>
                      </a:srgbClr>
                    </a:gs>
                  </a:gsLst>
                  <a:lin ang="0"/>
                </a:gradFill>
                <a:latin typeface="Open Sans Bold"/>
                <a:ea typeface="Open Sans Bold"/>
                <a:cs typeface="Open Sans Bold"/>
                <a:sym typeface="Open Sans Bold"/>
              </a:rPr>
              <a:t>SE LEÉ COMO: ”PARA TODO”, “POR CADA” O “SIEMPRE”</a:t>
            </a:r>
          </a:p>
        </p:txBody>
      </p:sp>
      <p:sp>
        <p:nvSpPr>
          <p:cNvPr name="TextBox 9" id="9"/>
          <p:cNvSpPr txBox="true"/>
          <p:nvPr/>
        </p:nvSpPr>
        <p:spPr>
          <a:xfrm rot="0">
            <a:off x="683568" y="7530847"/>
            <a:ext cx="6278910" cy="1747519"/>
          </a:xfrm>
          <a:prstGeom prst="rect">
            <a:avLst/>
          </a:prstGeom>
        </p:spPr>
        <p:txBody>
          <a:bodyPr anchor="t" rtlCol="false" tIns="0" lIns="0" bIns="0" rIns="0">
            <a:spAutoFit/>
          </a:bodyPr>
          <a:lstStyle/>
          <a:p>
            <a:pPr algn="ctr">
              <a:lnSpc>
                <a:spcPts val="12880"/>
              </a:lnSpc>
            </a:pPr>
            <a:r>
              <a:rPr lang="en-US" sz="9200" b="true">
                <a:solidFill>
                  <a:srgbClr val="000000"/>
                </a:solidFill>
                <a:latin typeface="Aran Bold"/>
                <a:ea typeface="Aran Bold"/>
                <a:cs typeface="Aran Bold"/>
                <a:sym typeface="Aran Bold"/>
              </a:rPr>
              <a:t>∀</a:t>
            </a:r>
            <a:r>
              <a:rPr lang="en-US" sz="9200">
                <a:solidFill>
                  <a:srgbClr val="000000"/>
                </a:solidFill>
                <a:latin typeface="Aran"/>
                <a:ea typeface="Aran"/>
                <a:cs typeface="Aran"/>
                <a:sym typeface="Aran"/>
              </a:rPr>
              <a:t>X EA: P(X)</a:t>
            </a:r>
            <a:r>
              <a:rPr lang="en-US" sz="9200" b="true">
                <a:solidFill>
                  <a:srgbClr val="000000"/>
                </a:solidFill>
                <a:latin typeface="Aran Bold"/>
                <a:ea typeface="Aran Bold"/>
                <a:cs typeface="Aran Bold"/>
                <a:sym typeface="Aran Bold"/>
              </a:rPr>
              <a:t> </a:t>
            </a:r>
          </a:p>
        </p:txBody>
      </p:sp>
      <p:sp>
        <p:nvSpPr>
          <p:cNvPr name="TextBox 10" id="10"/>
          <p:cNvSpPr txBox="true"/>
          <p:nvPr/>
        </p:nvSpPr>
        <p:spPr>
          <a:xfrm rot="0">
            <a:off x="5022111" y="6529452"/>
            <a:ext cx="7249716" cy="887095"/>
          </a:xfrm>
          <a:prstGeom prst="rect">
            <a:avLst/>
          </a:prstGeom>
        </p:spPr>
        <p:txBody>
          <a:bodyPr anchor="t" rtlCol="false" tIns="0" lIns="0" bIns="0" rIns="0">
            <a:spAutoFit/>
          </a:bodyPr>
          <a:lstStyle/>
          <a:p>
            <a:pPr algn="ctr">
              <a:lnSpc>
                <a:spcPts val="7279"/>
              </a:lnSpc>
            </a:pPr>
            <a:r>
              <a:rPr lang="en-US" sz="5199" u="sng">
                <a:solidFill>
                  <a:srgbClr val="FF66C4"/>
                </a:solidFill>
                <a:latin typeface="Agbalumo"/>
                <a:ea typeface="Agbalumo"/>
                <a:cs typeface="Agbalumo"/>
                <a:sym typeface="Agbalumo"/>
              </a:rPr>
              <a:t>S</a:t>
            </a:r>
            <a:r>
              <a:rPr lang="en-US" sz="5199" u="sng">
                <a:solidFill>
                  <a:srgbClr val="FF66C4"/>
                </a:solidFill>
                <a:latin typeface="Agbalumo"/>
                <a:ea typeface="Agbalumo"/>
                <a:cs typeface="Agbalumo"/>
                <a:sym typeface="Agbalumo"/>
              </a:rPr>
              <a:t>U FORMA GENERAL ES</a:t>
            </a:r>
            <a:r>
              <a:rPr lang="en-US" sz="5199" u="sng">
                <a:solidFill>
                  <a:srgbClr val="FF66C4"/>
                </a:solidFill>
                <a:latin typeface="Agbalumo"/>
                <a:ea typeface="Agbalumo"/>
                <a:cs typeface="Agbalumo"/>
                <a:sym typeface="Agbalumo"/>
              </a:rPr>
              <a:t>:</a:t>
            </a:r>
          </a:p>
        </p:txBody>
      </p:sp>
      <p:sp>
        <p:nvSpPr>
          <p:cNvPr name="TextBox 11" id="11"/>
          <p:cNvSpPr txBox="true"/>
          <p:nvPr/>
        </p:nvSpPr>
        <p:spPr>
          <a:xfrm rot="0">
            <a:off x="8120951" y="7962126"/>
            <a:ext cx="9149170" cy="1572031"/>
          </a:xfrm>
          <a:prstGeom prst="rect">
            <a:avLst/>
          </a:prstGeom>
        </p:spPr>
        <p:txBody>
          <a:bodyPr anchor="t" rtlCol="false" tIns="0" lIns="0" bIns="0" rIns="0">
            <a:spAutoFit/>
          </a:bodyPr>
          <a:lstStyle/>
          <a:p>
            <a:pPr algn="ctr">
              <a:lnSpc>
                <a:spcPts val="4177"/>
              </a:lnSpc>
            </a:pPr>
            <a:r>
              <a:rPr lang="en-US" sz="2984" b="true">
                <a:solidFill>
                  <a:srgbClr val="000000"/>
                </a:solidFill>
                <a:latin typeface="Open Sans Bold"/>
                <a:ea typeface="Open Sans Bold"/>
                <a:cs typeface="Open Sans Bold"/>
                <a:sym typeface="Open Sans Bold"/>
              </a:rPr>
              <a:t>ESTO SE INTERPTRETA COMO: “PARA TODO EL ELEMENTO (X) EN EL CONJUNTO (A) POR LO CUAL LA PROPIEDAD P(X) ES VERDADERO.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694500"/>
            <a:ext cx="3095714" cy="3331982"/>
          </a:xfrm>
          <a:custGeom>
            <a:avLst/>
            <a:gdLst/>
            <a:ahLst/>
            <a:cxnLst/>
            <a:rect r="r" b="b" t="t" l="l"/>
            <a:pathLst>
              <a:path h="3331982" w="3095714">
                <a:moveTo>
                  <a:pt x="0" y="0"/>
                </a:moveTo>
                <a:lnTo>
                  <a:pt x="3095714" y="0"/>
                </a:lnTo>
                <a:lnTo>
                  <a:pt x="3095714" y="3331982"/>
                </a:lnTo>
                <a:lnTo>
                  <a:pt x="0" y="33319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788725" y="358503"/>
            <a:ext cx="12318950" cy="1566544"/>
          </a:xfrm>
          <a:prstGeom prst="rect">
            <a:avLst/>
          </a:prstGeom>
        </p:spPr>
        <p:txBody>
          <a:bodyPr anchor="t" rtlCol="false" tIns="0" lIns="0" bIns="0" rIns="0">
            <a:spAutoFit/>
          </a:bodyPr>
          <a:lstStyle/>
          <a:p>
            <a:pPr algn="ctr">
              <a:lnSpc>
                <a:spcPts val="12880"/>
              </a:lnSpc>
            </a:pPr>
            <a:r>
              <a:rPr lang="en-US" sz="9200">
                <a:gradFill>
                  <a:gsLst>
                    <a:gs pos="0">
                      <a:srgbClr val="FF66C4">
                        <a:alpha val="100000"/>
                      </a:srgbClr>
                    </a:gs>
                    <a:gs pos="100000">
                      <a:srgbClr val="FFDE59">
                        <a:alpha val="100000"/>
                      </a:srgbClr>
                    </a:gs>
                  </a:gsLst>
                  <a:lin ang="0"/>
                </a:gradFill>
                <a:latin typeface="Anton"/>
                <a:ea typeface="Anton"/>
                <a:cs typeface="Anton"/>
                <a:sym typeface="Anton"/>
              </a:rPr>
              <a:t>CUANTIFICADOR EXISTENCIAL:</a:t>
            </a:r>
          </a:p>
        </p:txBody>
      </p:sp>
      <p:sp>
        <p:nvSpPr>
          <p:cNvPr name="TextBox 4" id="4"/>
          <p:cNvSpPr txBox="true"/>
          <p:nvPr/>
        </p:nvSpPr>
        <p:spPr>
          <a:xfrm rot="0">
            <a:off x="3148205" y="2424928"/>
            <a:ext cx="12219832"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Open Sans Bold"/>
                <a:ea typeface="Open Sans Bold"/>
                <a:cs typeface="Open Sans Bold"/>
                <a:sym typeface="Open Sans Bold"/>
              </a:rPr>
              <a:t>SU SíMBOLO ES REPRESENTADO POR:</a:t>
            </a:r>
          </a:p>
        </p:txBody>
      </p:sp>
      <p:sp>
        <p:nvSpPr>
          <p:cNvPr name="TextBox 5" id="5"/>
          <p:cNvSpPr txBox="true"/>
          <p:nvPr/>
        </p:nvSpPr>
        <p:spPr>
          <a:xfrm rot="0">
            <a:off x="7144540" y="3031882"/>
            <a:ext cx="2537966" cy="3782671"/>
          </a:xfrm>
          <a:prstGeom prst="rect">
            <a:avLst/>
          </a:prstGeom>
        </p:spPr>
        <p:txBody>
          <a:bodyPr anchor="t" rtlCol="false" tIns="0" lIns="0" bIns="0" rIns="0">
            <a:spAutoFit/>
          </a:bodyPr>
          <a:lstStyle/>
          <a:p>
            <a:pPr algn="ctr">
              <a:lnSpc>
                <a:spcPts val="15156"/>
              </a:lnSpc>
            </a:pPr>
            <a:r>
              <a:rPr lang="en-US" sz="10825">
                <a:solidFill>
                  <a:srgbClr val="000000"/>
                </a:solidFill>
                <a:latin typeface="Rubik Bubbles"/>
                <a:ea typeface="Rubik Bubbles"/>
                <a:cs typeface="Rubik Bubbles"/>
                <a:sym typeface="Rubik Bubbles"/>
              </a:rPr>
              <a:t>(∃)</a:t>
            </a:r>
          </a:p>
          <a:p>
            <a:pPr algn="ctr">
              <a:lnSpc>
                <a:spcPts val="15156"/>
              </a:lnSpc>
            </a:pPr>
            <a:r>
              <a:rPr lang="en-US" sz="10825">
                <a:solidFill>
                  <a:srgbClr val="000000"/>
                </a:solidFill>
                <a:latin typeface="Rubik Bubbles"/>
                <a:ea typeface="Rubik Bubbles"/>
                <a:cs typeface="Rubik Bubbles"/>
                <a:sym typeface="Rubik Bubbles"/>
              </a:rPr>
              <a:t> </a:t>
            </a:r>
          </a:p>
        </p:txBody>
      </p:sp>
      <p:sp>
        <p:nvSpPr>
          <p:cNvPr name="TextBox 6" id="6"/>
          <p:cNvSpPr txBox="true"/>
          <p:nvPr/>
        </p:nvSpPr>
        <p:spPr>
          <a:xfrm rot="0">
            <a:off x="1190124" y="4888327"/>
            <a:ext cx="15516153" cy="1474818"/>
          </a:xfrm>
          <a:prstGeom prst="rect">
            <a:avLst/>
          </a:prstGeom>
        </p:spPr>
        <p:txBody>
          <a:bodyPr anchor="t" rtlCol="false" tIns="0" lIns="0" bIns="0" rIns="0">
            <a:spAutoFit/>
          </a:bodyPr>
          <a:lstStyle/>
          <a:p>
            <a:pPr algn="ctr">
              <a:lnSpc>
                <a:spcPts val="5934"/>
              </a:lnSpc>
            </a:pPr>
            <a:r>
              <a:rPr lang="en-US" b="true" sz="4238">
                <a:gradFill>
                  <a:gsLst>
                    <a:gs pos="0">
                      <a:srgbClr val="000000">
                        <a:alpha val="100000"/>
                      </a:srgbClr>
                    </a:gs>
                    <a:gs pos="100000">
                      <a:srgbClr val="3533CD">
                        <a:alpha val="100000"/>
                      </a:srgbClr>
                    </a:gs>
                  </a:gsLst>
                  <a:lin ang="0"/>
                </a:gradFill>
                <a:latin typeface="Open Sans Bold"/>
                <a:ea typeface="Open Sans Bold"/>
                <a:cs typeface="Open Sans Bold"/>
                <a:sym typeface="Open Sans Bold"/>
              </a:rPr>
              <a:t>SE LEÉ COMO: “EXISTE”, “HAY ALMENOS UNO” O “ALGUNOS” </a:t>
            </a:r>
          </a:p>
        </p:txBody>
      </p:sp>
      <p:sp>
        <p:nvSpPr>
          <p:cNvPr name="TextBox 7" id="7"/>
          <p:cNvSpPr txBox="true"/>
          <p:nvPr/>
        </p:nvSpPr>
        <p:spPr>
          <a:xfrm rot="0">
            <a:off x="2929774" y="6173036"/>
            <a:ext cx="11030545" cy="1352510"/>
          </a:xfrm>
          <a:prstGeom prst="rect">
            <a:avLst/>
          </a:prstGeom>
        </p:spPr>
        <p:txBody>
          <a:bodyPr anchor="t" rtlCol="false" tIns="0" lIns="0" bIns="0" rIns="0">
            <a:spAutoFit/>
          </a:bodyPr>
          <a:lstStyle/>
          <a:p>
            <a:pPr algn="ctr">
              <a:lnSpc>
                <a:spcPts val="11027"/>
              </a:lnSpc>
            </a:pPr>
            <a:r>
              <a:rPr lang="en-US" sz="7876" u="sng">
                <a:solidFill>
                  <a:srgbClr val="FF66C4"/>
                </a:solidFill>
                <a:latin typeface="Agbalumo"/>
                <a:ea typeface="Agbalumo"/>
                <a:cs typeface="Agbalumo"/>
                <a:sym typeface="Agbalumo"/>
              </a:rPr>
              <a:t>SU FORMULA GENERAL:</a:t>
            </a:r>
          </a:p>
        </p:txBody>
      </p:sp>
      <p:sp>
        <p:nvSpPr>
          <p:cNvPr name="TextBox 8" id="8"/>
          <p:cNvSpPr txBox="true"/>
          <p:nvPr/>
        </p:nvSpPr>
        <p:spPr>
          <a:xfrm rot="0">
            <a:off x="1028700" y="7963696"/>
            <a:ext cx="6231500" cy="1313163"/>
          </a:xfrm>
          <a:prstGeom prst="rect">
            <a:avLst/>
          </a:prstGeom>
        </p:spPr>
        <p:txBody>
          <a:bodyPr anchor="t" rtlCol="false" tIns="0" lIns="0" bIns="0" rIns="0">
            <a:spAutoFit/>
          </a:bodyPr>
          <a:lstStyle/>
          <a:p>
            <a:pPr algn="ctr">
              <a:lnSpc>
                <a:spcPts val="10716"/>
              </a:lnSpc>
            </a:pPr>
            <a:r>
              <a:rPr lang="en-US" sz="7654" b="true">
                <a:solidFill>
                  <a:srgbClr val="000000"/>
                </a:solidFill>
                <a:latin typeface="Open Sans Bold"/>
                <a:ea typeface="Open Sans Bold"/>
                <a:cs typeface="Open Sans Bold"/>
                <a:sym typeface="Open Sans Bold"/>
              </a:rPr>
              <a:t>∃X EA: P(x)</a:t>
            </a:r>
          </a:p>
        </p:txBody>
      </p:sp>
      <p:sp>
        <p:nvSpPr>
          <p:cNvPr name="TextBox 9" id="9"/>
          <p:cNvSpPr txBox="true"/>
          <p:nvPr/>
        </p:nvSpPr>
        <p:spPr>
          <a:xfrm rot="0">
            <a:off x="7033738" y="8058946"/>
            <a:ext cx="10834552" cy="1232375"/>
          </a:xfrm>
          <a:prstGeom prst="rect">
            <a:avLst/>
          </a:prstGeom>
        </p:spPr>
        <p:txBody>
          <a:bodyPr anchor="t" rtlCol="false" tIns="0" lIns="0" bIns="0" rIns="0">
            <a:spAutoFit/>
          </a:bodyPr>
          <a:lstStyle/>
          <a:p>
            <a:pPr algn="ctr">
              <a:lnSpc>
                <a:spcPts val="4986"/>
              </a:lnSpc>
            </a:pPr>
            <a:r>
              <a:rPr lang="en-US" sz="3561" b="true">
                <a:solidFill>
                  <a:srgbClr val="000000"/>
                </a:solidFill>
                <a:latin typeface="Open Sans Bold"/>
                <a:ea typeface="Open Sans Bold"/>
                <a:cs typeface="Open Sans Bold"/>
                <a:sym typeface="Open Sans Bold"/>
              </a:rPr>
              <a:t>significa que al menos un elemento (X) en el conjunto (A) cumple la propiedad P(x)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sp>
        <p:nvSpPr>
          <p:cNvPr name="TextBox 2" id="2"/>
          <p:cNvSpPr txBox="true"/>
          <p:nvPr/>
        </p:nvSpPr>
        <p:spPr>
          <a:xfrm rot="0">
            <a:off x="3140321" y="686125"/>
            <a:ext cx="10195810" cy="1459796"/>
          </a:xfrm>
          <a:prstGeom prst="rect">
            <a:avLst/>
          </a:prstGeom>
        </p:spPr>
        <p:txBody>
          <a:bodyPr anchor="t" rtlCol="false" tIns="0" lIns="0" bIns="0" rIns="0">
            <a:spAutoFit/>
          </a:bodyPr>
          <a:lstStyle/>
          <a:p>
            <a:pPr algn="l">
              <a:lnSpc>
                <a:spcPts val="10972"/>
              </a:lnSpc>
            </a:pPr>
            <a:r>
              <a:rPr lang="en-US" sz="10972" spc="-197">
                <a:solidFill>
                  <a:srgbClr val="FFFFFF"/>
                </a:solidFill>
                <a:latin typeface="Anton"/>
                <a:ea typeface="Anton"/>
                <a:cs typeface="Anton"/>
                <a:sym typeface="Anton"/>
              </a:rPr>
              <a:t> </a:t>
            </a:r>
            <a:r>
              <a:rPr lang="en-US" sz="10972" spc="-197">
                <a:gradFill>
                  <a:gsLst>
                    <a:gs pos="0">
                      <a:srgbClr val="FFF7AD">
                        <a:alpha val="100000"/>
                      </a:srgbClr>
                    </a:gs>
                    <a:gs pos="100000">
                      <a:srgbClr val="FFA9F9">
                        <a:alpha val="100000"/>
                      </a:srgbClr>
                    </a:gs>
                  </a:gsLst>
                  <a:lin ang="0"/>
                </a:gradFill>
                <a:latin typeface="Anton"/>
                <a:ea typeface="Anton"/>
                <a:cs typeface="Anton"/>
                <a:sym typeface="Anton"/>
              </a:rPr>
              <a:t>NEGACIÓN</a:t>
            </a:r>
            <a:r>
              <a:rPr lang="en-US" sz="10972" spc="-197">
                <a:solidFill>
                  <a:srgbClr val="FFFFFF"/>
                </a:solidFill>
                <a:latin typeface="Anton"/>
                <a:ea typeface="Anton"/>
                <a:cs typeface="Anton"/>
                <a:sym typeface="Anton"/>
              </a:rPr>
              <a:t> </a:t>
            </a:r>
            <a:r>
              <a:rPr lang="en-US" sz="10972" spc="-197">
                <a:gradFill>
                  <a:gsLst>
                    <a:gs pos="0">
                      <a:srgbClr val="FFF7AD">
                        <a:alpha val="100000"/>
                      </a:srgbClr>
                    </a:gs>
                    <a:gs pos="100000">
                      <a:srgbClr val="FFA9F9">
                        <a:alpha val="100000"/>
                      </a:srgbClr>
                    </a:gs>
                  </a:gsLst>
                  <a:lin ang="0"/>
                </a:gradFill>
                <a:latin typeface="Anton"/>
                <a:ea typeface="Anton"/>
                <a:cs typeface="Anton"/>
                <a:sym typeface="Anton"/>
              </a:rPr>
              <a:t>LÓGICAS </a:t>
            </a:r>
            <a:r>
              <a:rPr lang="en-US" sz="10972" spc="-197">
                <a:solidFill>
                  <a:srgbClr val="FFFFFF"/>
                </a:solidFill>
                <a:latin typeface="Anton"/>
                <a:ea typeface="Anton"/>
                <a:cs typeface="Anton"/>
                <a:sym typeface="Anton"/>
              </a:rPr>
              <a:t>                  </a:t>
            </a:r>
          </a:p>
        </p:txBody>
      </p:sp>
      <p:sp>
        <p:nvSpPr>
          <p:cNvPr name="TextBox 3" id="3"/>
          <p:cNvSpPr txBox="true"/>
          <p:nvPr/>
        </p:nvSpPr>
        <p:spPr>
          <a:xfrm rot="0">
            <a:off x="1173864" y="2470812"/>
            <a:ext cx="16085436" cy="6493703"/>
          </a:xfrm>
          <a:prstGeom prst="rect">
            <a:avLst/>
          </a:prstGeom>
        </p:spPr>
        <p:txBody>
          <a:bodyPr anchor="t" rtlCol="false" tIns="0" lIns="0" bIns="0" rIns="0">
            <a:spAutoFit/>
          </a:bodyPr>
          <a:lstStyle/>
          <a:p>
            <a:pPr algn="l">
              <a:lnSpc>
                <a:spcPts val="4329"/>
              </a:lnSpc>
            </a:pPr>
            <a:r>
              <a:rPr lang="en-US" sz="3092" b="true">
                <a:solidFill>
                  <a:srgbClr val="FFFFFF"/>
                </a:solidFill>
                <a:latin typeface="Open Sans Bold"/>
                <a:ea typeface="Open Sans Bold"/>
                <a:cs typeface="Open Sans Bold"/>
                <a:sym typeface="Open Sans Bold"/>
              </a:rPr>
              <a:t>                   </a:t>
            </a:r>
            <a:r>
              <a:rPr lang="en-US" sz="3092" u="sng" b="true">
                <a:solidFill>
                  <a:srgbClr val="FFFFFF"/>
                </a:solidFill>
                <a:latin typeface="Open Sans Bold"/>
                <a:ea typeface="Open Sans Bold"/>
                <a:cs typeface="Open Sans Bold"/>
                <a:sym typeface="Open Sans Bold"/>
              </a:rPr>
              <a:t>1. Negación de Cuantificadores (Leyes de De Morgan)</a:t>
            </a:r>
          </a:p>
          <a:p>
            <a:pPr algn="l">
              <a:lnSpc>
                <a:spcPts val="4329"/>
              </a:lnSpc>
            </a:pPr>
          </a:p>
          <a:p>
            <a:pPr algn="l">
              <a:lnSpc>
                <a:spcPts val="4329"/>
              </a:lnSpc>
            </a:pPr>
            <a:r>
              <a:rPr lang="en-US" sz="3092" b="true">
                <a:solidFill>
                  <a:srgbClr val="FFFFFF"/>
                </a:solidFill>
                <a:latin typeface="Open Sans Bold"/>
                <a:ea typeface="Open Sans Bold"/>
                <a:cs typeface="Open Sans Bold"/>
                <a:sym typeface="Open Sans Bold"/>
              </a:rPr>
              <a:t> Negar un cuantificador es bastante intuitivo si lo piensas con ejemplos de la vida                         cotidiana. </a:t>
            </a:r>
          </a:p>
          <a:p>
            <a:pPr algn="l">
              <a:lnSpc>
                <a:spcPts val="4329"/>
              </a:lnSpc>
            </a:pPr>
            <a:r>
              <a:rPr lang="en-US" sz="3092" b="true">
                <a:solidFill>
                  <a:srgbClr val="FFFFFF"/>
                </a:solidFill>
                <a:latin typeface="Open Sans Bold"/>
                <a:ea typeface="Open Sans Bold"/>
                <a:cs typeface="Open Sans Bold"/>
                <a:sym typeface="Open Sans Bold"/>
              </a:rPr>
              <a:t>Si alguien dice "Todos los gatos son negros", para demostrar que es mentira no necesitas probar que ningún gato es negro; basta con encontrar un gato que sea de otro color.</a:t>
            </a:r>
          </a:p>
          <a:p>
            <a:pPr algn="l">
              <a:lnSpc>
                <a:spcPts val="4329"/>
              </a:lnSpc>
            </a:pPr>
            <a:r>
              <a:rPr lang="en-US" sz="3092" b="true">
                <a:solidFill>
                  <a:srgbClr val="FFFFFF"/>
                </a:solidFill>
                <a:latin typeface="Open Sans Bold"/>
                <a:ea typeface="Open Sans Bold"/>
                <a:cs typeface="Open Sans Bold"/>
                <a:sym typeface="Open Sans Bold"/>
              </a:rPr>
              <a:t>Por lo tanto, la regla de oro para negar cuantificadores es: Se cambia el cuantificador y se niega la propiedad.</a:t>
            </a:r>
          </a:p>
          <a:p>
            <a:pPr algn="l">
              <a:lnSpc>
                <a:spcPts val="4329"/>
              </a:lnSpc>
            </a:pPr>
            <a:r>
              <a:rPr lang="en-US" sz="3092" b="true">
                <a:solidFill>
                  <a:srgbClr val="FFFFFF"/>
                </a:solidFill>
                <a:latin typeface="Open Sans Bold"/>
                <a:ea typeface="Open Sans Bold"/>
                <a:cs typeface="Open Sans Bold"/>
                <a:sym typeface="Open Sans Bold"/>
              </a:rPr>
              <a:t>De Universal a Existencial</a:t>
            </a:r>
          </a:p>
          <a:p>
            <a:pPr algn="l">
              <a:lnSpc>
                <a:spcPts val="4329"/>
              </a:lnSpc>
            </a:pPr>
            <a:r>
              <a:rPr lang="en-US" sz="3092" b="true">
                <a:solidFill>
                  <a:srgbClr val="FFFFFF"/>
                </a:solidFill>
                <a:latin typeface="Open Sans Bold"/>
                <a:ea typeface="Open Sans Bold"/>
                <a:cs typeface="Open Sans Bold"/>
                <a:sym typeface="Open Sans Bold"/>
              </a:rPr>
              <a:t>La negación de que una propiedad se cumpla para todos, equivale a decir que existe al menos uno para el cual no se cumple.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000000"/>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Freeform 5" id="5"/>
          <p:cNvSpPr/>
          <p:nvPr/>
        </p:nvSpPr>
        <p:spPr>
          <a:xfrm flipH="false" flipV="false" rot="0">
            <a:off x="2349058" y="466987"/>
            <a:ext cx="13589885" cy="8994661"/>
          </a:xfrm>
          <a:custGeom>
            <a:avLst/>
            <a:gdLst/>
            <a:ahLst/>
            <a:cxnLst/>
            <a:rect r="r" b="b" t="t" l="l"/>
            <a:pathLst>
              <a:path h="8994661" w="13589885">
                <a:moveTo>
                  <a:pt x="0" y="0"/>
                </a:moveTo>
                <a:lnTo>
                  <a:pt x="13589884" y="0"/>
                </a:lnTo>
                <a:lnTo>
                  <a:pt x="13589884" y="8994662"/>
                </a:lnTo>
                <a:lnTo>
                  <a:pt x="0" y="8994662"/>
                </a:lnTo>
                <a:lnTo>
                  <a:pt x="0" y="0"/>
                </a:lnTo>
                <a:close/>
              </a:path>
            </a:pathLst>
          </a:custGeom>
          <a:blipFill>
            <a:blip r:embed="rId2"/>
            <a:stretch>
              <a:fillRect l="0" t="-4108" r="0" b="-4108"/>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79270" y="1267336"/>
            <a:ext cx="11098495" cy="7526074"/>
          </a:xfrm>
          <a:custGeom>
            <a:avLst/>
            <a:gdLst/>
            <a:ahLst/>
            <a:cxnLst/>
            <a:rect r="r" b="b" t="t" l="l"/>
            <a:pathLst>
              <a:path h="7526074" w="11098495">
                <a:moveTo>
                  <a:pt x="0" y="0"/>
                </a:moveTo>
                <a:lnTo>
                  <a:pt x="11098495" y="0"/>
                </a:lnTo>
                <a:lnTo>
                  <a:pt x="11098495" y="7526074"/>
                </a:lnTo>
                <a:lnTo>
                  <a:pt x="0" y="7526074"/>
                </a:lnTo>
                <a:lnTo>
                  <a:pt x="0" y="0"/>
                </a:lnTo>
                <a:close/>
              </a:path>
            </a:pathLst>
          </a:custGeom>
          <a:blipFill>
            <a:blip r:embed="rId2"/>
            <a:stretch>
              <a:fillRect l="-3392" t="-601" r="0" b="-601"/>
            </a:stretch>
          </a:blipFill>
        </p:spPr>
      </p:sp>
      <p:sp>
        <p:nvSpPr>
          <p:cNvPr name="TextBox 3" id="3"/>
          <p:cNvSpPr txBox="true"/>
          <p:nvPr/>
        </p:nvSpPr>
        <p:spPr>
          <a:xfrm rot="0">
            <a:off x="318640" y="1292983"/>
            <a:ext cx="6255199" cy="7624834"/>
          </a:xfrm>
          <a:prstGeom prst="rect">
            <a:avLst/>
          </a:prstGeom>
        </p:spPr>
        <p:txBody>
          <a:bodyPr anchor="t" rtlCol="false" tIns="0" lIns="0" bIns="0" rIns="0">
            <a:spAutoFit/>
          </a:bodyPr>
          <a:lstStyle/>
          <a:p>
            <a:pPr algn="ctr">
              <a:lnSpc>
                <a:spcPts val="5508"/>
              </a:lnSpc>
            </a:pPr>
            <a:r>
              <a:rPr lang="en-US" sz="3934" b="true">
                <a:solidFill>
                  <a:srgbClr val="FFFFFF"/>
                </a:solidFill>
                <a:latin typeface="Open Sans Bold"/>
                <a:ea typeface="Open Sans Bold"/>
                <a:cs typeface="Open Sans Bold"/>
                <a:sym typeface="Open Sans Bold"/>
              </a:rPr>
              <a:t> </a:t>
            </a:r>
            <a:r>
              <a:rPr lang="en-US" b="true" sz="3934" u="sng">
                <a:solidFill>
                  <a:srgbClr val="000000"/>
                </a:solidFill>
                <a:latin typeface="Open Sans Bold"/>
                <a:ea typeface="Open Sans Bold"/>
                <a:cs typeface="Open Sans Bold"/>
                <a:sym typeface="Open Sans Bold"/>
              </a:rPr>
              <a:t>De Existencial a Universal:</a:t>
            </a:r>
          </a:p>
          <a:p>
            <a:pPr algn="ctr">
              <a:lnSpc>
                <a:spcPts val="5508"/>
              </a:lnSpc>
            </a:pPr>
          </a:p>
          <a:p>
            <a:pPr algn="ctr">
              <a:lnSpc>
                <a:spcPts val="5508"/>
              </a:lnSpc>
            </a:pPr>
            <a:r>
              <a:rPr lang="en-US" sz="3934" b="true">
                <a:solidFill>
                  <a:srgbClr val="000000"/>
                </a:solidFill>
                <a:latin typeface="Open Sans Bold"/>
                <a:ea typeface="Open Sans Bold"/>
                <a:cs typeface="Open Sans Bold"/>
                <a:sym typeface="Open Sans Bold"/>
              </a:rPr>
              <a:t>La negación de que exista al menos un elemento con una propiedad, equivale a decir que ningún elemento la cumple     (es decir, todos la incumplen).</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3259777" y="317307"/>
            <a:ext cx="11768447" cy="2733894"/>
          </a:xfrm>
          <a:prstGeom prst="rect">
            <a:avLst/>
          </a:prstGeom>
        </p:spPr>
        <p:txBody>
          <a:bodyPr anchor="t" rtlCol="false" tIns="0" lIns="0" bIns="0" rIns="0">
            <a:spAutoFit/>
          </a:bodyPr>
          <a:lstStyle/>
          <a:p>
            <a:pPr algn="ctr">
              <a:lnSpc>
                <a:spcPts val="11012"/>
              </a:lnSpc>
            </a:pPr>
            <a:r>
              <a:rPr lang="en-US" sz="7866" u="sng">
                <a:gradFill>
                  <a:gsLst>
                    <a:gs pos="0">
                      <a:srgbClr val="FF66C4">
                        <a:alpha val="100000"/>
                      </a:srgbClr>
                    </a:gs>
                    <a:gs pos="100000">
                      <a:srgbClr val="FFDE59">
                        <a:alpha val="100000"/>
                      </a:srgbClr>
                    </a:gs>
                  </a:gsLst>
                  <a:lin ang="0"/>
                </a:gradFill>
                <a:latin typeface="Anton"/>
                <a:ea typeface="Anton"/>
                <a:cs typeface="Anton"/>
                <a:sym typeface="Anton"/>
              </a:rPr>
              <a:t>EQUIVALENCIAS LÓGICAS COMUNES</a:t>
            </a:r>
          </a:p>
        </p:txBody>
      </p:sp>
      <p:sp>
        <p:nvSpPr>
          <p:cNvPr name="TextBox 6" id="6"/>
          <p:cNvSpPr txBox="true"/>
          <p:nvPr/>
        </p:nvSpPr>
        <p:spPr>
          <a:xfrm rot="0">
            <a:off x="1833396" y="3341377"/>
            <a:ext cx="14621208" cy="5633504"/>
          </a:xfrm>
          <a:prstGeom prst="rect">
            <a:avLst/>
          </a:prstGeom>
        </p:spPr>
        <p:txBody>
          <a:bodyPr anchor="t" rtlCol="false" tIns="0" lIns="0" bIns="0" rIns="0">
            <a:spAutoFit/>
          </a:bodyPr>
          <a:lstStyle/>
          <a:p>
            <a:pPr algn="l">
              <a:lnSpc>
                <a:spcPts val="5016"/>
              </a:lnSpc>
            </a:pPr>
            <a:r>
              <a:rPr lang="en-US" sz="3583" b="true">
                <a:solidFill>
                  <a:srgbClr val="FFFEFE"/>
                </a:solidFill>
                <a:latin typeface="Open Sans Bold"/>
                <a:ea typeface="Open Sans Bold"/>
                <a:cs typeface="Open Sans Bold"/>
                <a:sym typeface="Open Sans Bold"/>
              </a:rPr>
              <a:t>                       </a:t>
            </a:r>
            <a:r>
              <a:rPr lang="en-US" sz="3583" u="sng" b="true">
                <a:solidFill>
                  <a:srgbClr val="FFFEFE"/>
                </a:solidFill>
                <a:latin typeface="Open Sans Bold"/>
                <a:ea typeface="Open Sans Bold"/>
                <a:cs typeface="Open Sans Bold"/>
                <a:sym typeface="Open Sans Bold"/>
              </a:rPr>
              <a:t>2. Equivalencias Lógicas Comunes:</a:t>
            </a:r>
          </a:p>
          <a:p>
            <a:pPr algn="l">
              <a:lnSpc>
                <a:spcPts val="5016"/>
              </a:lnSpc>
            </a:pPr>
          </a:p>
          <a:p>
            <a:pPr algn="l">
              <a:lnSpc>
                <a:spcPts val="5016"/>
              </a:lnSpc>
            </a:pPr>
            <a:r>
              <a:rPr lang="en-US" sz="3583">
                <a:solidFill>
                  <a:srgbClr val="FFFEFE"/>
                </a:solidFill>
                <a:latin typeface="Open Sans"/>
                <a:ea typeface="Open Sans"/>
                <a:cs typeface="Open Sans"/>
                <a:sym typeface="Open Sans"/>
              </a:rPr>
              <a:t>  </a:t>
            </a:r>
            <a:r>
              <a:rPr lang="en-US" sz="3583" b="true">
                <a:solidFill>
                  <a:srgbClr val="FFFEFE"/>
                </a:solidFill>
                <a:latin typeface="Open Sans Bold"/>
                <a:ea typeface="Open Sans Bold"/>
                <a:cs typeface="Open Sans Bold"/>
                <a:sym typeface="Open Sans Bold"/>
              </a:rPr>
              <a:t>Además de las negaciones básicas, existen reglas sobre cómo se comportan los cuantificadores cuando se distribuyen o se combinan con conectores lógicos como la conjunción (\land, "y") y la disyunción (\lor, "o"). Con la conjunción ()</a:t>
            </a:r>
          </a:p>
          <a:p>
            <a:pPr algn="l">
              <a:lnSpc>
                <a:spcPts val="5016"/>
              </a:lnSpc>
            </a:pPr>
            <a:r>
              <a:rPr lang="en-US" sz="3583" b="true">
                <a:solidFill>
                  <a:srgbClr val="FFFEFE"/>
                </a:solidFill>
                <a:latin typeface="Open Sans Bold"/>
                <a:ea typeface="Open Sans Bold"/>
                <a:cs typeface="Open Sans Bold"/>
                <a:sym typeface="Open Sans Bold"/>
              </a:rPr>
              <a:t>El cuantificador universal se lleva muy bien con la "y".</a:t>
            </a:r>
          </a:p>
          <a:p>
            <a:pPr algn="l">
              <a:lnSpc>
                <a:spcPts val="5016"/>
              </a:lnSpc>
            </a:pPr>
            <a:r>
              <a:rPr lang="en-US" sz="3583" b="true">
                <a:solidFill>
                  <a:srgbClr val="FFFEFE"/>
                </a:solidFill>
                <a:latin typeface="Open Sans Bold"/>
                <a:ea typeface="Open Sans Bold"/>
                <a:cs typeface="Open Sans Bold"/>
                <a:sym typeface="Open Sans Bold"/>
              </a:rPr>
              <a:t>Decir que todo el mundo es alto y rubio es lo mismo que decir que todo el mundo es alto y todo el mundo es rubio.</a:t>
            </a:r>
            <a:r>
              <a:rPr lang="en-US" sz="3583" b="true">
                <a:solidFill>
                  <a:srgbClr val="000000"/>
                </a:solidFill>
                <a:latin typeface="Open Sans Bold"/>
                <a:ea typeface="Open Sans Bold"/>
                <a:cs typeface="Open Sans Bold"/>
                <a:sym typeface="Open Sans Bold"/>
              </a:rPr>
              <a: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27740" y="818646"/>
            <a:ext cx="12581393" cy="8649707"/>
          </a:xfrm>
          <a:custGeom>
            <a:avLst/>
            <a:gdLst/>
            <a:ahLst/>
            <a:cxnLst/>
            <a:rect r="r" b="b" t="t" l="l"/>
            <a:pathLst>
              <a:path h="8649707" w="12581393">
                <a:moveTo>
                  <a:pt x="0" y="0"/>
                </a:moveTo>
                <a:lnTo>
                  <a:pt x="12581393" y="0"/>
                </a:lnTo>
                <a:lnTo>
                  <a:pt x="12581393" y="8649708"/>
                </a:lnTo>
                <a:lnTo>
                  <a:pt x="0" y="8649708"/>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4744" y="1562542"/>
            <a:ext cx="17213514" cy="7515020"/>
          </a:xfrm>
          <a:custGeom>
            <a:avLst/>
            <a:gdLst/>
            <a:ahLst/>
            <a:cxnLst/>
            <a:rect r="r" b="b" t="t" l="l"/>
            <a:pathLst>
              <a:path h="7515020" w="17213514">
                <a:moveTo>
                  <a:pt x="0" y="0"/>
                </a:moveTo>
                <a:lnTo>
                  <a:pt x="17213514" y="0"/>
                </a:lnTo>
                <a:lnTo>
                  <a:pt x="17213514" y="7515020"/>
                </a:lnTo>
                <a:lnTo>
                  <a:pt x="0" y="7515020"/>
                </a:lnTo>
                <a:lnTo>
                  <a:pt x="0" y="0"/>
                </a:lnTo>
                <a:close/>
              </a:path>
            </a:pathLst>
          </a:custGeom>
          <a:blipFill>
            <a:blip r:embed="rId2"/>
            <a:stretch>
              <a:fillRect l="-11049" t="0" r="-11049" b="0"/>
            </a:stretch>
          </a:blipFill>
        </p:spPr>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14350" y="9603531"/>
            <a:ext cx="22951717" cy="3086100"/>
            <a:chOff x="0" y="0"/>
            <a:chExt cx="6044897" cy="812800"/>
          </a:xfrm>
        </p:grpSpPr>
        <p:sp>
          <p:nvSpPr>
            <p:cNvPr name="Freeform 3" id="3"/>
            <p:cNvSpPr/>
            <p:nvPr/>
          </p:nvSpPr>
          <p:spPr>
            <a:xfrm flipH="false" flipV="false" rot="0">
              <a:off x="0" y="0"/>
              <a:ext cx="6044897" cy="812800"/>
            </a:xfrm>
            <a:custGeom>
              <a:avLst/>
              <a:gdLst/>
              <a:ahLst/>
              <a:cxnLst/>
              <a:rect r="r" b="b" t="t" l="l"/>
              <a:pathLst>
                <a:path h="812800" w="6044897">
                  <a:moveTo>
                    <a:pt x="0" y="0"/>
                  </a:moveTo>
                  <a:lnTo>
                    <a:pt x="6044897" y="0"/>
                  </a:lnTo>
                  <a:lnTo>
                    <a:pt x="6044897" y="812800"/>
                  </a:lnTo>
                  <a:lnTo>
                    <a:pt x="0" y="812800"/>
                  </a:lnTo>
                  <a:close/>
                </a:path>
              </a:pathLst>
            </a:custGeom>
            <a:solidFill>
              <a:srgbClr val="24497B"/>
            </a:solidFill>
          </p:spPr>
        </p:sp>
        <p:sp>
          <p:nvSpPr>
            <p:cNvPr name="TextBox 4" id="4"/>
            <p:cNvSpPr txBox="true"/>
            <p:nvPr/>
          </p:nvSpPr>
          <p:spPr>
            <a:xfrm>
              <a:off x="0" y="-38100"/>
              <a:ext cx="6044897" cy="850900"/>
            </a:xfrm>
            <a:prstGeom prst="rect">
              <a:avLst/>
            </a:prstGeom>
          </p:spPr>
          <p:txBody>
            <a:bodyPr anchor="ctr" rtlCol="false" tIns="50800" lIns="50800" bIns="50800" rIns="50800"/>
            <a:lstStyle/>
            <a:p>
              <a:pPr algn="ctr">
                <a:lnSpc>
                  <a:spcPts val="2138"/>
                </a:lnSpc>
              </a:pPr>
            </a:p>
          </p:txBody>
        </p:sp>
      </p:grpSp>
      <p:sp>
        <p:nvSpPr>
          <p:cNvPr name="TextBox 5" id="5"/>
          <p:cNvSpPr txBox="true"/>
          <p:nvPr/>
        </p:nvSpPr>
        <p:spPr>
          <a:xfrm rot="0">
            <a:off x="3180183" y="212604"/>
            <a:ext cx="11144434" cy="3195319"/>
          </a:xfrm>
          <a:prstGeom prst="rect">
            <a:avLst/>
          </a:prstGeom>
        </p:spPr>
        <p:txBody>
          <a:bodyPr anchor="t" rtlCol="false" tIns="0" lIns="0" bIns="0" rIns="0">
            <a:spAutoFit/>
          </a:bodyPr>
          <a:lstStyle/>
          <a:p>
            <a:pPr algn="ctr">
              <a:lnSpc>
                <a:spcPts val="12880"/>
              </a:lnSpc>
            </a:pPr>
            <a:r>
              <a:rPr lang="en-US" sz="9200" u="sng">
                <a:gradFill>
                  <a:gsLst>
                    <a:gs pos="0">
                      <a:srgbClr val="FF66C4">
                        <a:alpha val="100000"/>
                      </a:srgbClr>
                    </a:gs>
                    <a:gs pos="100000">
                      <a:srgbClr val="FFDE59">
                        <a:alpha val="100000"/>
                      </a:srgbClr>
                    </a:gs>
                  </a:gsLst>
                  <a:lin ang="0"/>
                </a:gradFill>
                <a:latin typeface="Anton"/>
                <a:ea typeface="Anton"/>
                <a:cs typeface="Anton"/>
                <a:sym typeface="Anton"/>
              </a:rPr>
              <a:t>CUANTIFICACIÓN </a:t>
            </a:r>
          </a:p>
          <a:p>
            <a:pPr algn="ctr">
              <a:lnSpc>
                <a:spcPts val="12880"/>
              </a:lnSpc>
            </a:pPr>
            <a:r>
              <a:rPr lang="en-US" sz="9200" u="sng">
                <a:gradFill>
                  <a:gsLst>
                    <a:gs pos="0">
                      <a:srgbClr val="FF66C4">
                        <a:alpha val="100000"/>
                      </a:srgbClr>
                    </a:gs>
                    <a:gs pos="100000">
                      <a:srgbClr val="FFDE59">
                        <a:alpha val="100000"/>
                      </a:srgbClr>
                    </a:gs>
                  </a:gsLst>
                  <a:lin ang="0"/>
                </a:gradFill>
                <a:latin typeface="Anton"/>
                <a:ea typeface="Anton"/>
                <a:cs typeface="Anton"/>
                <a:sym typeface="Anton"/>
              </a:rPr>
              <a:t>MULTIPLE:</a:t>
            </a:r>
          </a:p>
        </p:txBody>
      </p:sp>
      <p:sp>
        <p:nvSpPr>
          <p:cNvPr name="TextBox 6" id="6"/>
          <p:cNvSpPr txBox="true"/>
          <p:nvPr/>
        </p:nvSpPr>
        <p:spPr>
          <a:xfrm rot="0">
            <a:off x="1440634" y="4196532"/>
            <a:ext cx="15406731" cy="3789901"/>
          </a:xfrm>
          <a:prstGeom prst="rect">
            <a:avLst/>
          </a:prstGeom>
        </p:spPr>
        <p:txBody>
          <a:bodyPr anchor="t" rtlCol="false" tIns="0" lIns="0" bIns="0" rIns="0">
            <a:spAutoFit/>
          </a:bodyPr>
          <a:lstStyle/>
          <a:p>
            <a:pPr algn="l">
              <a:lnSpc>
                <a:spcPts val="5014"/>
              </a:lnSpc>
            </a:pPr>
            <a:r>
              <a:rPr lang="en-US" sz="3581" b="true">
                <a:solidFill>
                  <a:srgbClr val="000000"/>
                </a:solidFill>
                <a:latin typeface="Open Sans Bold"/>
                <a:ea typeface="Open Sans Bold"/>
                <a:cs typeface="Open Sans Bold"/>
                <a:sym typeface="Open Sans Bold"/>
              </a:rPr>
              <a:t>Los cuantificadores múltiples constituyen una de las herramientas más potentes de la lógica de predicados (o lógica de primer orden). </a:t>
            </a:r>
          </a:p>
          <a:p>
            <a:pPr algn="l">
              <a:lnSpc>
                <a:spcPts val="5014"/>
              </a:lnSpc>
            </a:pPr>
            <a:r>
              <a:rPr lang="en-US" sz="3581" b="true">
                <a:solidFill>
                  <a:srgbClr val="000000"/>
                </a:solidFill>
                <a:latin typeface="Open Sans Bold"/>
                <a:ea typeface="Open Sans Bold"/>
                <a:cs typeface="Open Sans Bold"/>
                <a:sym typeface="Open Sans Bold"/>
              </a:rPr>
              <a:t> Su función principal es expresar relaciones complejas entre múltiples variables dentro de una misma proposición mediante el uso simultáneo de cuantificadores universales ("para todo") y cuantificadores existenciales , "existe").  </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sp>
        <p:nvSpPr>
          <p:cNvPr name="TextBox 2" id="2"/>
          <p:cNvSpPr txBox="true"/>
          <p:nvPr/>
        </p:nvSpPr>
        <p:spPr>
          <a:xfrm rot="0">
            <a:off x="3424275" y="487389"/>
            <a:ext cx="12081559" cy="1499557"/>
          </a:xfrm>
          <a:prstGeom prst="rect">
            <a:avLst/>
          </a:prstGeom>
        </p:spPr>
        <p:txBody>
          <a:bodyPr anchor="t" rtlCol="false" tIns="0" lIns="0" bIns="0" rIns="0">
            <a:spAutoFit/>
          </a:bodyPr>
          <a:lstStyle/>
          <a:p>
            <a:pPr algn="ctr">
              <a:lnSpc>
                <a:spcPts val="12372"/>
              </a:lnSpc>
            </a:pPr>
            <a:r>
              <a:rPr lang="en-US" sz="8837" u="sng">
                <a:gradFill>
                  <a:gsLst>
                    <a:gs pos="0">
                      <a:srgbClr val="FF66C4">
                        <a:alpha val="100000"/>
                      </a:srgbClr>
                    </a:gs>
                    <a:gs pos="100000">
                      <a:srgbClr val="FFDE59">
                        <a:alpha val="100000"/>
                      </a:srgbClr>
                    </a:gs>
                  </a:gsLst>
                  <a:lin ang="0"/>
                </a:gradFill>
                <a:latin typeface="Anton"/>
                <a:ea typeface="Anton"/>
                <a:cs typeface="Anton"/>
                <a:sym typeface="Anton"/>
              </a:rPr>
              <a:t>REGLAS DE INFERENCIA:</a:t>
            </a:r>
          </a:p>
        </p:txBody>
      </p:sp>
      <p:sp>
        <p:nvSpPr>
          <p:cNvPr name="TextBox 3" id="3"/>
          <p:cNvSpPr txBox="true"/>
          <p:nvPr/>
        </p:nvSpPr>
        <p:spPr>
          <a:xfrm rot="0">
            <a:off x="1667575" y="3326912"/>
            <a:ext cx="15170002" cy="5520868"/>
          </a:xfrm>
          <a:prstGeom prst="rect">
            <a:avLst/>
          </a:prstGeom>
        </p:spPr>
        <p:txBody>
          <a:bodyPr anchor="t" rtlCol="false" tIns="0" lIns="0" bIns="0" rIns="0">
            <a:spAutoFit/>
          </a:bodyPr>
          <a:lstStyle/>
          <a:p>
            <a:pPr algn="ctr">
              <a:lnSpc>
                <a:spcPts val="7299"/>
              </a:lnSpc>
            </a:pPr>
            <a:r>
              <a:rPr lang="en-US" sz="5213" b="true">
                <a:solidFill>
                  <a:srgbClr val="FFFFFF"/>
                </a:solidFill>
                <a:latin typeface="Open Sans Bold"/>
                <a:ea typeface="Open Sans Bold"/>
                <a:cs typeface="Open Sans Bold"/>
                <a:sym typeface="Open Sans Bold"/>
              </a:rPr>
              <a:t> Son reglas lógicas que permiten razonar correctamente con los cuantificadores universal (∀: "para todo") y existencial</a:t>
            </a:r>
          </a:p>
          <a:p>
            <a:pPr algn="ctr">
              <a:lnSpc>
                <a:spcPts val="7299"/>
              </a:lnSpc>
            </a:pPr>
            <a:r>
              <a:rPr lang="en-US" sz="5213" b="true">
                <a:solidFill>
                  <a:srgbClr val="FFFFFF"/>
                </a:solidFill>
                <a:latin typeface="Open Sans Bold"/>
                <a:ea typeface="Open Sans Bold"/>
                <a:cs typeface="Open Sans Bold"/>
                <a:sym typeface="Open Sans Bold"/>
              </a:rPr>
              <a:t> (∃: "existe") en lógica de predicados. Permiten pasar de enunciados generales a casos particulares y viceversa.</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sp>
        <p:nvSpPr>
          <p:cNvPr name="TextBox 2" id="2"/>
          <p:cNvSpPr txBox="true"/>
          <p:nvPr/>
        </p:nvSpPr>
        <p:spPr>
          <a:xfrm rot="0">
            <a:off x="4453682" y="159703"/>
            <a:ext cx="9380637" cy="1566544"/>
          </a:xfrm>
          <a:prstGeom prst="rect">
            <a:avLst/>
          </a:prstGeom>
        </p:spPr>
        <p:txBody>
          <a:bodyPr anchor="t" rtlCol="false" tIns="0" lIns="0" bIns="0" rIns="0">
            <a:spAutoFit/>
          </a:bodyPr>
          <a:lstStyle/>
          <a:p>
            <a:pPr algn="ctr">
              <a:lnSpc>
                <a:spcPts val="12880"/>
              </a:lnSpc>
            </a:pPr>
            <a:r>
              <a:rPr lang="en-US" sz="9200" u="sng">
                <a:gradFill>
                  <a:gsLst>
                    <a:gs pos="0">
                      <a:srgbClr val="FF66C4">
                        <a:alpha val="100000"/>
                      </a:srgbClr>
                    </a:gs>
                    <a:gs pos="100000">
                      <a:srgbClr val="FFDE59">
                        <a:alpha val="100000"/>
                      </a:srgbClr>
                    </a:gs>
                  </a:gsLst>
                  <a:lin ang="0"/>
                </a:gradFill>
                <a:latin typeface="Anton"/>
                <a:ea typeface="Anton"/>
                <a:cs typeface="Anton"/>
                <a:sym typeface="Anton"/>
              </a:rPr>
              <a:t>REGLAS PRINCIPALES:</a:t>
            </a:r>
            <a:r>
              <a:rPr lang="en-US" sz="9200">
                <a:solidFill>
                  <a:srgbClr val="000000"/>
                </a:solidFill>
                <a:latin typeface="Anton"/>
                <a:ea typeface="Anton"/>
                <a:cs typeface="Anton"/>
                <a:sym typeface="Anton"/>
              </a:rPr>
              <a:t> </a:t>
            </a:r>
          </a:p>
        </p:txBody>
      </p:sp>
      <p:sp>
        <p:nvSpPr>
          <p:cNvPr name="TextBox 3" id="3"/>
          <p:cNvSpPr txBox="true"/>
          <p:nvPr/>
        </p:nvSpPr>
        <p:spPr>
          <a:xfrm rot="0">
            <a:off x="2084860" y="2156966"/>
            <a:ext cx="14118279" cy="7447695"/>
          </a:xfrm>
          <a:prstGeom prst="rect">
            <a:avLst/>
          </a:prstGeom>
        </p:spPr>
        <p:txBody>
          <a:bodyPr anchor="t" rtlCol="false" tIns="0" lIns="0" bIns="0" rIns="0">
            <a:spAutoFit/>
          </a:bodyPr>
          <a:lstStyle/>
          <a:p>
            <a:pPr algn="ctr">
              <a:lnSpc>
                <a:spcPts val="4247"/>
              </a:lnSpc>
            </a:pPr>
            <a:r>
              <a:rPr lang="en-US" b="true" sz="3033" u="sng">
                <a:solidFill>
                  <a:srgbClr val="FFFEFE"/>
                </a:solidFill>
                <a:latin typeface="Open Sans Bold"/>
                <a:ea typeface="Open Sans Bold"/>
                <a:cs typeface="Open Sans Bold"/>
                <a:sym typeface="Open Sans Bold"/>
              </a:rPr>
              <a:t>Para el cuantificador universal (∀):</a:t>
            </a:r>
            <a:r>
              <a:rPr lang="en-US" sz="3033" b="true">
                <a:solidFill>
                  <a:srgbClr val="FFFEFE"/>
                </a:solidFill>
                <a:latin typeface="Open Sans Bold"/>
                <a:ea typeface="Open Sans Bold"/>
                <a:cs typeface="Open Sans Bold"/>
                <a:sym typeface="Open Sans Bold"/>
              </a:rPr>
              <a:t>      </a:t>
            </a:r>
          </a:p>
          <a:p>
            <a:pPr algn="ctr">
              <a:lnSpc>
                <a:spcPts val="4247"/>
              </a:lnSpc>
            </a:pPr>
          </a:p>
          <a:p>
            <a:pPr algn="l">
              <a:lnSpc>
                <a:spcPts val="4247"/>
              </a:lnSpc>
            </a:pPr>
            <a:r>
              <a:rPr lang="en-US" sz="3033">
                <a:solidFill>
                  <a:srgbClr val="FFFEFE"/>
                </a:solidFill>
                <a:latin typeface="Open Sans"/>
                <a:ea typeface="Open Sans"/>
                <a:cs typeface="Open Sans"/>
                <a:sym typeface="Open Sans"/>
              </a:rPr>
              <a:t>     </a:t>
            </a:r>
            <a:r>
              <a:rPr lang="en-US" sz="3033" b="true">
                <a:solidFill>
                  <a:srgbClr val="FFFEFE"/>
                </a:solidFill>
                <a:latin typeface="Open Sans Bold"/>
                <a:ea typeface="Open Sans Bold"/>
                <a:cs typeface="Open Sans Bold"/>
                <a:sym typeface="Open Sans Bold"/>
              </a:rPr>
              <a:t>Regla De Conclusión Condición</a:t>
            </a:r>
          </a:p>
          <a:p>
            <a:pPr algn="l">
              <a:lnSpc>
                <a:spcPts val="4247"/>
              </a:lnSpc>
            </a:pPr>
            <a:r>
              <a:rPr lang="en-US" sz="3033" b="true">
                <a:solidFill>
                  <a:srgbClr val="FFFEFE"/>
                </a:solidFill>
                <a:latin typeface="Open Sans Bold"/>
                <a:ea typeface="Open Sans Bold"/>
                <a:cs typeface="Open Sans Bold"/>
                <a:sym typeface="Open Sans Bold"/>
              </a:rPr>
              <a:t>I</a:t>
            </a:r>
            <a:r>
              <a:rPr lang="en-US" sz="3033" b="true">
                <a:solidFill>
                  <a:srgbClr val="FFFEFE"/>
                </a:solidFill>
                <a:latin typeface="Open Sans Bold"/>
                <a:ea typeface="Open Sans Bold"/>
                <a:cs typeface="Open Sans Bold"/>
                <a:sym typeface="Open Sans Bold"/>
              </a:rPr>
              <a:t>nstanciación Universal (IU) ∀x P(x) P(c) c = cualquier constante</a:t>
            </a:r>
          </a:p>
          <a:p>
            <a:pPr algn="l">
              <a:lnSpc>
                <a:spcPts val="4247"/>
              </a:lnSpc>
            </a:pPr>
            <a:r>
              <a:rPr lang="en-US" sz="3033" b="true">
                <a:solidFill>
                  <a:srgbClr val="FFFEFE"/>
                </a:solidFill>
                <a:latin typeface="Open Sans Bold"/>
                <a:ea typeface="Open Sans Bold"/>
                <a:cs typeface="Open Sans Bold"/>
                <a:sym typeface="Open Sans Bold"/>
              </a:rPr>
              <a:t>Generalización Universal (GU) P(c) ∀x P(x) c debe ser arbitrario (sin       supuestos previos)</a:t>
            </a:r>
          </a:p>
          <a:p>
            <a:pPr algn="l">
              <a:lnSpc>
                <a:spcPts val="4247"/>
              </a:lnSpc>
            </a:pPr>
          </a:p>
          <a:p>
            <a:pPr algn="l">
              <a:lnSpc>
                <a:spcPts val="4247"/>
              </a:lnSpc>
            </a:pPr>
            <a:r>
              <a:rPr lang="en-US" sz="3033" b="true">
                <a:solidFill>
                  <a:srgbClr val="FFFEFE"/>
                </a:solidFill>
                <a:latin typeface="Open Sans Bold"/>
                <a:ea typeface="Open Sans Bold"/>
                <a:cs typeface="Open Sans Bold"/>
                <a:sym typeface="Open Sans Bold"/>
              </a:rPr>
              <a:t>                             </a:t>
            </a:r>
            <a:r>
              <a:rPr lang="en-US" sz="3033" u="sng" b="true">
                <a:solidFill>
                  <a:srgbClr val="FFFEFE"/>
                </a:solidFill>
                <a:latin typeface="Open Sans Bold"/>
                <a:ea typeface="Open Sans Bold"/>
                <a:cs typeface="Open Sans Bold"/>
                <a:sym typeface="Open Sans Bold"/>
              </a:rPr>
              <a:t>Para el cuantificador existencial (∃):</a:t>
            </a:r>
          </a:p>
          <a:p>
            <a:pPr algn="l">
              <a:lnSpc>
                <a:spcPts val="4247"/>
              </a:lnSpc>
            </a:pPr>
          </a:p>
          <a:p>
            <a:pPr algn="l">
              <a:lnSpc>
                <a:spcPts val="4247"/>
              </a:lnSpc>
            </a:pPr>
            <a:r>
              <a:rPr lang="en-US" sz="3033" b="true">
                <a:solidFill>
                  <a:srgbClr val="FFFEFE"/>
                </a:solidFill>
                <a:latin typeface="Open Sans Bold"/>
                <a:ea typeface="Open Sans Bold"/>
                <a:cs typeface="Open Sans Bold"/>
                <a:sym typeface="Open Sans Bold"/>
              </a:rPr>
              <a:t>Regla De Conclusión Condición</a:t>
            </a:r>
          </a:p>
          <a:p>
            <a:pPr algn="l">
              <a:lnSpc>
                <a:spcPts val="4247"/>
              </a:lnSpc>
            </a:pPr>
            <a:r>
              <a:rPr lang="en-US" sz="3033" b="true">
                <a:solidFill>
                  <a:srgbClr val="FFFEFE"/>
                </a:solidFill>
                <a:latin typeface="Open Sans Bold"/>
                <a:ea typeface="Open Sans Bold"/>
                <a:cs typeface="Open Sans Bold"/>
                <a:sym typeface="Open Sans Bold"/>
              </a:rPr>
              <a:t>Instanciación Existencial (IE) ∃x P(x) P(k) k = constante nueva (no usada antes)</a:t>
            </a:r>
          </a:p>
          <a:p>
            <a:pPr algn="l">
              <a:lnSpc>
                <a:spcPts val="4247"/>
              </a:lnSpc>
            </a:pPr>
            <a:r>
              <a:rPr lang="en-US" sz="3033" b="true">
                <a:solidFill>
                  <a:srgbClr val="FFFEFE"/>
                </a:solidFill>
                <a:latin typeface="Open Sans Bold"/>
                <a:ea typeface="Open Sans Bold"/>
                <a:cs typeface="Open Sans Bold"/>
                <a:sym typeface="Open Sans Bold"/>
              </a:rPr>
              <a:t>Generalización Existencial (GE) P(c) ∃x P(x) Sin restricciones</a:t>
            </a:r>
          </a:p>
          <a:p>
            <a:pPr algn="ctr">
              <a:lnSpc>
                <a:spcPts val="4247"/>
              </a:lnSpc>
            </a:pPr>
            <a:r>
              <a:rPr lang="en-US" sz="3033" b="true">
                <a:solidFill>
                  <a:srgbClr val="000000"/>
                </a:solidFill>
                <a:latin typeface="Open Sans Bold"/>
                <a:ea typeface="Open Sans Bold"/>
                <a:cs typeface="Open Sans Bold"/>
                <a:sym typeface="Open Sans Bold"/>
              </a:rPr>
              <a:t>   </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sp>
        <p:nvSpPr>
          <p:cNvPr name="TextBox 2" id="2"/>
          <p:cNvSpPr txBox="true"/>
          <p:nvPr/>
        </p:nvSpPr>
        <p:spPr>
          <a:xfrm rot="0">
            <a:off x="4326582" y="27150"/>
            <a:ext cx="9634835" cy="1525513"/>
          </a:xfrm>
          <a:prstGeom prst="rect">
            <a:avLst/>
          </a:prstGeom>
        </p:spPr>
        <p:txBody>
          <a:bodyPr anchor="t" rtlCol="false" tIns="0" lIns="0" bIns="0" rIns="0">
            <a:spAutoFit/>
          </a:bodyPr>
          <a:lstStyle/>
          <a:p>
            <a:pPr algn="ctr">
              <a:lnSpc>
                <a:spcPts val="12516"/>
              </a:lnSpc>
            </a:pPr>
            <a:r>
              <a:rPr lang="en-US" sz="8940">
                <a:gradFill>
                  <a:gsLst>
                    <a:gs pos="0">
                      <a:srgbClr val="FF66C4">
                        <a:alpha val="100000"/>
                      </a:srgbClr>
                    </a:gs>
                    <a:gs pos="100000">
                      <a:srgbClr val="FFDE59">
                        <a:alpha val="100000"/>
                      </a:srgbClr>
                    </a:gs>
                  </a:gsLst>
                  <a:lin ang="0"/>
                </a:gradFill>
                <a:latin typeface="Anton"/>
                <a:ea typeface="Anton"/>
                <a:cs typeface="Anton"/>
                <a:sym typeface="Anton"/>
              </a:rPr>
              <a:t>DOMINIO DEL DISCURSO</a:t>
            </a:r>
          </a:p>
        </p:txBody>
      </p:sp>
      <p:sp>
        <p:nvSpPr>
          <p:cNvPr name="TextBox 3" id="3"/>
          <p:cNvSpPr txBox="true"/>
          <p:nvPr/>
        </p:nvSpPr>
        <p:spPr>
          <a:xfrm rot="0">
            <a:off x="2707602" y="1839583"/>
            <a:ext cx="13724037" cy="7749958"/>
          </a:xfrm>
          <a:prstGeom prst="rect">
            <a:avLst/>
          </a:prstGeom>
        </p:spPr>
        <p:txBody>
          <a:bodyPr anchor="t" rtlCol="false" tIns="0" lIns="0" bIns="0" rIns="0">
            <a:spAutoFit/>
          </a:bodyPr>
          <a:lstStyle/>
          <a:p>
            <a:pPr algn="l">
              <a:lnSpc>
                <a:spcPts val="2811"/>
              </a:lnSpc>
            </a:pPr>
            <a:r>
              <a:rPr lang="en-US" sz="2008" b="true">
                <a:solidFill>
                  <a:srgbClr val="FFFFFF"/>
                </a:solidFill>
                <a:latin typeface="Open Sans Bold"/>
                <a:ea typeface="Open Sans Bold"/>
                <a:cs typeface="Open Sans Bold"/>
                <a:sym typeface="Open Sans Bold"/>
              </a:rPr>
              <a:t>LA DEFINICIÓN: EL DOMINIO O UNIVERSO DE DISCURSO (USUALMENTE REPRESENTADO CON LA LETRA U O D) </a:t>
            </a:r>
          </a:p>
          <a:p>
            <a:pPr algn="l">
              <a:lnSpc>
                <a:spcPts val="2811"/>
              </a:lnSpc>
            </a:pPr>
          </a:p>
          <a:p>
            <a:pPr algn="l">
              <a:lnSpc>
                <a:spcPts val="2811"/>
              </a:lnSpc>
            </a:pPr>
            <a:r>
              <a:rPr lang="en-US" sz="2008" b="true">
                <a:solidFill>
                  <a:srgbClr val="FFFFFF"/>
                </a:solidFill>
                <a:latin typeface="Dingos Stamp"/>
                <a:ea typeface="Dingos Stamp"/>
                <a:cs typeface="Dingos Stamp"/>
                <a:sym typeface="Dingos Stamp"/>
              </a:rPr>
              <a:t>                              </a:t>
            </a:r>
            <a:r>
              <a:rPr lang="en-US" b="true" sz="2008" u="sng">
                <a:solidFill>
                  <a:srgbClr val="FFFFFF"/>
                </a:solidFill>
                <a:latin typeface="Dingos Stamp"/>
                <a:ea typeface="Dingos Stamp"/>
                <a:cs typeface="Dingos Stamp"/>
                <a:sym typeface="Dingos Stamp"/>
              </a:rPr>
              <a:t> </a:t>
            </a:r>
            <a:r>
              <a:rPr lang="en-US" sz="2008" u="sng">
                <a:solidFill>
                  <a:srgbClr val="FF66C4"/>
                </a:solidFill>
                <a:latin typeface="Dingos Stamp"/>
                <a:ea typeface="Dingos Stamp"/>
                <a:cs typeface="Dingos Stamp"/>
                <a:sym typeface="Dingos Stamp"/>
              </a:rPr>
              <a:t>2. LA IMPORTANCIA DEL CONTEXTO: </a:t>
            </a:r>
          </a:p>
          <a:p>
            <a:pPr algn="l">
              <a:lnSpc>
                <a:spcPts val="2811"/>
              </a:lnSpc>
            </a:pPr>
          </a:p>
          <a:p>
            <a:pPr algn="l">
              <a:lnSpc>
                <a:spcPts val="2811"/>
              </a:lnSpc>
            </a:pPr>
            <a:r>
              <a:rPr lang="en-US" sz="2008">
                <a:solidFill>
                  <a:srgbClr val="FFFFFF"/>
                </a:solidFill>
                <a:latin typeface="Open Sans"/>
                <a:ea typeface="Open Sans"/>
                <a:cs typeface="Open Sans"/>
                <a:sym typeface="Open Sans"/>
              </a:rPr>
              <a:t> </a:t>
            </a:r>
            <a:r>
              <a:rPr lang="en-US" sz="2008" b="true">
                <a:solidFill>
                  <a:srgbClr val="FFFFFF"/>
                </a:solidFill>
                <a:latin typeface="Open Sans Bold"/>
                <a:ea typeface="Open Sans Bold"/>
                <a:cs typeface="Open Sans Bold"/>
                <a:sym typeface="Open Sans Bold"/>
              </a:rPr>
              <a:t>FRASE: "PARA TODO NÚMERO X, X - 1 SIEMPRE ES UN NÚMERO POSITIVO."</a:t>
            </a:r>
          </a:p>
          <a:p>
            <a:pPr algn="l">
              <a:lnSpc>
                <a:spcPts val="2811"/>
              </a:lnSpc>
            </a:pPr>
            <a:r>
              <a:rPr lang="en-US" sz="2008">
                <a:solidFill>
                  <a:srgbClr val="FFFFFF"/>
                </a:solidFill>
                <a:latin typeface="Open Sans"/>
                <a:ea typeface="Open Sans"/>
                <a:cs typeface="Open Sans"/>
                <a:sym typeface="Open Sans"/>
              </a:rPr>
              <a:t> </a:t>
            </a:r>
            <a:r>
              <a:rPr lang="en-US" sz="2008" b="true">
                <a:solidFill>
                  <a:srgbClr val="FFFFFF"/>
                </a:solidFill>
                <a:latin typeface="Open Sans Bold"/>
                <a:ea typeface="Open Sans Bold"/>
                <a:cs typeface="Open Sans Bold"/>
                <a:sym typeface="Open Sans Bold"/>
              </a:rPr>
              <a:t>CASO A: </a:t>
            </a:r>
          </a:p>
          <a:p>
            <a:pPr algn="l">
              <a:lnSpc>
                <a:spcPts val="2811"/>
              </a:lnSpc>
            </a:pPr>
            <a:r>
              <a:rPr lang="en-US" sz="2008">
                <a:solidFill>
                  <a:srgbClr val="FFFFFF"/>
                </a:solidFill>
                <a:latin typeface="Open Sans"/>
                <a:ea typeface="Open Sans"/>
                <a:cs typeface="Open Sans"/>
                <a:sym typeface="Open Sans"/>
              </a:rPr>
              <a:t> </a:t>
            </a:r>
            <a:r>
              <a:rPr lang="en-US" sz="2008" b="true">
                <a:solidFill>
                  <a:srgbClr val="FFFFFF"/>
                </a:solidFill>
                <a:latin typeface="Open Sans Bold"/>
                <a:ea typeface="Open Sans Bold"/>
                <a:cs typeface="Open Sans Bold"/>
                <a:sym typeface="Open Sans Bold"/>
              </a:rPr>
              <a:t>CASO B: </a:t>
            </a:r>
          </a:p>
          <a:p>
            <a:pPr algn="l">
              <a:lnSpc>
                <a:spcPts val="2811"/>
              </a:lnSpc>
            </a:pPr>
            <a:r>
              <a:rPr lang="en-US" sz="2008">
                <a:solidFill>
                  <a:srgbClr val="FFFFFF"/>
                </a:solidFill>
                <a:latin typeface="Open Sans"/>
                <a:ea typeface="Open Sans"/>
                <a:cs typeface="Open Sans"/>
                <a:sym typeface="Open Sans"/>
              </a:rPr>
              <a:t> </a:t>
            </a:r>
            <a:r>
              <a:rPr lang="en-US" sz="2008" b="true">
                <a:solidFill>
                  <a:srgbClr val="FFFFFF"/>
                </a:solidFill>
                <a:latin typeface="Open Sans Bold"/>
                <a:ea typeface="Open Sans Bold"/>
                <a:cs typeface="Open Sans Bold"/>
                <a:sym typeface="Open Sans Bold"/>
              </a:rPr>
              <a:t>CASO C: </a:t>
            </a:r>
          </a:p>
          <a:p>
            <a:pPr algn="l">
              <a:lnSpc>
                <a:spcPts val="2811"/>
              </a:lnSpc>
            </a:pPr>
            <a:r>
              <a:rPr lang="en-US" sz="2008" b="true">
                <a:solidFill>
                  <a:srgbClr val="FFFFFF"/>
                </a:solidFill>
                <a:latin typeface="Open Sans Bold"/>
                <a:ea typeface="Open Sans Bold"/>
                <a:cs typeface="Open Sans Bold"/>
                <a:sym typeface="Open Sans Bold"/>
              </a:rPr>
              <a:t> </a:t>
            </a:r>
            <a:r>
              <a:rPr lang="en-US" sz="2008" b="true">
                <a:solidFill>
                  <a:srgbClr val="FFFFFF"/>
                </a:solidFill>
                <a:latin typeface="Open Sans Bold"/>
                <a:ea typeface="Open Sans Bold"/>
                <a:cs typeface="Open Sans Bold"/>
                <a:sym typeface="Open Sans Bold"/>
              </a:rPr>
              <a:t>CONCLUSIÓN DE ESTA PARTE: </a:t>
            </a:r>
          </a:p>
          <a:p>
            <a:pPr algn="l">
              <a:lnSpc>
                <a:spcPts val="2811"/>
              </a:lnSpc>
            </a:pPr>
          </a:p>
          <a:p>
            <a:pPr algn="l">
              <a:lnSpc>
                <a:spcPts val="2811"/>
              </a:lnSpc>
            </a:pPr>
            <a:r>
              <a:rPr lang="en-US" sz="2008">
                <a:solidFill>
                  <a:srgbClr val="FFFFFF"/>
                </a:solidFill>
                <a:latin typeface="Dingos Stamp"/>
                <a:ea typeface="Dingos Stamp"/>
                <a:cs typeface="Dingos Stamp"/>
                <a:sym typeface="Dingos Stamp"/>
              </a:rPr>
              <a:t>                               </a:t>
            </a:r>
            <a:r>
              <a:rPr lang="en-US" sz="2008" u="sng">
                <a:solidFill>
                  <a:srgbClr val="FF66C4"/>
                </a:solidFill>
                <a:latin typeface="Dingos Stamp"/>
                <a:ea typeface="Dingos Stamp"/>
                <a:cs typeface="Dingos Stamp"/>
                <a:sym typeface="Dingos Stamp"/>
              </a:rPr>
              <a:t>3. TIPOS DE DOMINIOS Y RESTRICCIONES</a:t>
            </a:r>
          </a:p>
          <a:p>
            <a:pPr algn="l">
              <a:lnSpc>
                <a:spcPts val="2811"/>
              </a:lnSpc>
            </a:pPr>
          </a:p>
          <a:p>
            <a:pPr algn="l">
              <a:lnSpc>
                <a:spcPts val="2811"/>
              </a:lnSpc>
            </a:pPr>
            <a:r>
              <a:rPr lang="en-US" sz="2008" b="true">
                <a:solidFill>
                  <a:srgbClr val="FFFFFF"/>
                </a:solidFill>
                <a:latin typeface="Open Sans Bold"/>
                <a:ea typeface="Open Sans Bold"/>
                <a:cs typeface="Open Sans Bold"/>
                <a:sym typeface="Open Sans Bold"/>
              </a:rPr>
              <a:t>  </a:t>
            </a:r>
            <a:r>
              <a:rPr lang="en-US" sz="2008" b="true">
                <a:solidFill>
                  <a:srgbClr val="FFFFFF"/>
                </a:solidFill>
                <a:latin typeface="Open Sans Bold"/>
                <a:ea typeface="Open Sans Bold"/>
                <a:cs typeface="Open Sans Bold"/>
                <a:sym typeface="Open Sans Bold"/>
              </a:rPr>
              <a:t>FINITOS: </a:t>
            </a:r>
          </a:p>
          <a:p>
            <a:pPr algn="l">
              <a:lnSpc>
                <a:spcPts val="2811"/>
              </a:lnSpc>
            </a:pPr>
            <a:r>
              <a:rPr lang="en-US" sz="2008">
                <a:solidFill>
                  <a:srgbClr val="FFFFFF"/>
                </a:solidFill>
                <a:latin typeface="Open Sans"/>
                <a:ea typeface="Open Sans"/>
                <a:cs typeface="Open Sans"/>
                <a:sym typeface="Open Sans"/>
              </a:rPr>
              <a:t>  </a:t>
            </a:r>
            <a:r>
              <a:rPr lang="en-US" sz="2008" b="true">
                <a:solidFill>
                  <a:srgbClr val="FFFFFF"/>
                </a:solidFill>
                <a:latin typeface="Open Sans Bold"/>
                <a:ea typeface="Open Sans Bold"/>
                <a:cs typeface="Open Sans Bold"/>
                <a:sym typeface="Open Sans Bold"/>
              </a:rPr>
              <a:t>INFINITOS: </a:t>
            </a:r>
          </a:p>
          <a:p>
            <a:pPr algn="l">
              <a:lnSpc>
                <a:spcPts val="2811"/>
              </a:lnSpc>
            </a:pPr>
          </a:p>
          <a:p>
            <a:pPr algn="l">
              <a:lnSpc>
                <a:spcPts val="2811"/>
              </a:lnSpc>
            </a:pPr>
            <a:r>
              <a:rPr lang="en-US" sz="2008">
                <a:solidFill>
                  <a:srgbClr val="FFFFFF"/>
                </a:solidFill>
                <a:latin typeface="Dingos Stamp"/>
                <a:ea typeface="Dingos Stamp"/>
                <a:cs typeface="Dingos Stamp"/>
                <a:sym typeface="Dingos Stamp"/>
              </a:rPr>
              <a:t>                           </a:t>
            </a:r>
            <a:r>
              <a:rPr lang="en-US" sz="2008" u="sng">
                <a:solidFill>
                  <a:srgbClr val="FF66C4"/>
                </a:solidFill>
                <a:latin typeface="Dingos Stamp"/>
                <a:ea typeface="Dingos Stamp"/>
                <a:cs typeface="Dingos Stamp"/>
                <a:sym typeface="Dingos Stamp"/>
              </a:rPr>
              <a:t> </a:t>
            </a:r>
            <a:r>
              <a:rPr lang="en-US" sz="2008" u="sng">
                <a:solidFill>
                  <a:srgbClr val="FF66C4"/>
                </a:solidFill>
                <a:latin typeface="Dingos Stamp"/>
                <a:ea typeface="Dingos Stamp"/>
                <a:cs typeface="Dingos Stamp"/>
                <a:sym typeface="Dingos Stamp"/>
              </a:rPr>
              <a:t>LA RESTRICCIÓN DEL DOMINIO: </a:t>
            </a:r>
          </a:p>
          <a:p>
            <a:pPr algn="l">
              <a:lnSpc>
                <a:spcPts val="2811"/>
              </a:lnSpc>
            </a:pPr>
          </a:p>
          <a:p>
            <a:pPr algn="l">
              <a:lnSpc>
                <a:spcPts val="2811"/>
              </a:lnSpc>
            </a:pPr>
            <a:r>
              <a:rPr lang="en-US" sz="2008" b="true">
                <a:solidFill>
                  <a:srgbClr val="FFFFFF"/>
                </a:solidFill>
                <a:latin typeface="Open Sans Bold"/>
                <a:ea typeface="Open Sans Bold"/>
                <a:cs typeface="Open Sans Bold"/>
                <a:sym typeface="Open Sans Bold"/>
              </a:rPr>
              <a:t>  RELACIÓN CON LA COMPUTACIÓN E INGENIERÍA</a:t>
            </a:r>
          </a:p>
          <a:p>
            <a:pPr algn="l">
              <a:lnSpc>
                <a:spcPts val="2811"/>
              </a:lnSpc>
            </a:pPr>
          </a:p>
          <a:p>
            <a:pPr algn="l">
              <a:lnSpc>
                <a:spcPts val="2811"/>
              </a:lnSpc>
            </a:pPr>
            <a:r>
              <a:rPr lang="en-US" sz="2008">
                <a:solidFill>
                  <a:srgbClr val="FFFFFF"/>
                </a:solidFill>
                <a:latin typeface="Open Sans"/>
                <a:ea typeface="Open Sans"/>
                <a:cs typeface="Open Sans"/>
                <a:sym typeface="Open Sans"/>
              </a:rPr>
              <a:t>   </a:t>
            </a:r>
            <a:r>
              <a:rPr lang="en-US" sz="2008" b="true">
                <a:solidFill>
                  <a:srgbClr val="FFFFFF"/>
                </a:solidFill>
                <a:latin typeface="Open Sans Bold"/>
                <a:ea typeface="Open Sans Bold"/>
                <a:cs typeface="Open Sans Bold"/>
                <a:sym typeface="Open Sans Bold"/>
              </a:rPr>
              <a:t>BASES DE DATOS (SQL): </a:t>
            </a:r>
          </a:p>
          <a:p>
            <a:pPr algn="l">
              <a:lnSpc>
                <a:spcPts val="2811"/>
              </a:lnSpc>
            </a:pPr>
          </a:p>
          <a:p>
            <a:pPr algn="l">
              <a:lnSpc>
                <a:spcPts val="2811"/>
              </a:lnSpc>
            </a:pPr>
            <a:r>
              <a:rPr lang="en-US" sz="2008">
                <a:solidFill>
                  <a:srgbClr val="FFFFFF"/>
                </a:solidFill>
                <a:latin typeface="Open Sans"/>
                <a:ea typeface="Open Sans"/>
                <a:cs typeface="Open Sans"/>
                <a:sym typeface="Open Sans"/>
              </a:rPr>
              <a:t>   </a:t>
            </a:r>
            <a:r>
              <a:rPr lang="en-US" sz="2008" b="true">
                <a:solidFill>
                  <a:srgbClr val="FFFFFF"/>
                </a:solidFill>
                <a:latin typeface="Open Sans Bold"/>
                <a:ea typeface="Open Sans Bold"/>
                <a:cs typeface="Open Sans Bold"/>
                <a:sym typeface="Open Sans Bold"/>
              </a:rPr>
              <a:t>TIPOS DE DATOS EN PROGRAMACIÓN:</a:t>
            </a:r>
            <a:r>
              <a:rPr lang="en-US" sz="2008" b="true">
                <a:solidFill>
                  <a:srgbClr val="FFFFFF"/>
                </a:solidFill>
                <a:latin typeface="Open Sans Bold"/>
                <a:ea typeface="Open Sans Bold"/>
                <a:cs typeface="Open Sans Bold"/>
                <a:sym typeface="Open Sans Bold"/>
              </a:rPr>
              <a:t> </a:t>
            </a:r>
            <a:r>
              <a:rPr lang="en-US" sz="2008" b="true">
                <a:solidFill>
                  <a:srgbClr val="FF66C4"/>
                </a:solidFill>
                <a:latin typeface="Open Sans Bold"/>
                <a:ea typeface="Open Sans Bold"/>
                <a:cs typeface="Open Sans Bold"/>
                <a:sym typeface="Open Sans Bold"/>
              </a:rPr>
              <a:t> </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24497B"/>
        </a:solidFill>
      </p:bgPr>
    </p:bg>
    <p:spTree>
      <p:nvGrpSpPr>
        <p:cNvPr id="1" name=""/>
        <p:cNvGrpSpPr/>
        <p:nvPr/>
      </p:nvGrpSpPr>
      <p:grpSpPr>
        <a:xfrm>
          <a:off x="0" y="0"/>
          <a:ext cx="0" cy="0"/>
          <a:chOff x="0" y="0"/>
          <a:chExt cx="0" cy="0"/>
        </a:xfrm>
      </p:grpSpPr>
      <p:sp>
        <p:nvSpPr>
          <p:cNvPr name="TextBox 2" id="2"/>
          <p:cNvSpPr txBox="true"/>
          <p:nvPr/>
        </p:nvSpPr>
        <p:spPr>
          <a:xfrm rot="0">
            <a:off x="3682230" y="10548"/>
            <a:ext cx="9851862" cy="3518578"/>
          </a:xfrm>
          <a:prstGeom prst="rect">
            <a:avLst/>
          </a:prstGeom>
        </p:spPr>
        <p:txBody>
          <a:bodyPr anchor="t" rtlCol="false" tIns="0" lIns="0" bIns="0" rIns="0">
            <a:spAutoFit/>
          </a:bodyPr>
          <a:lstStyle/>
          <a:p>
            <a:pPr algn="ctr">
              <a:lnSpc>
                <a:spcPts val="14122"/>
              </a:lnSpc>
            </a:pPr>
            <a:r>
              <a:rPr lang="en-US" sz="10087">
                <a:gradFill>
                  <a:gsLst>
                    <a:gs pos="0">
                      <a:srgbClr val="FF66C4">
                        <a:alpha val="100000"/>
                      </a:srgbClr>
                    </a:gs>
                    <a:gs pos="100000">
                      <a:srgbClr val="FFDE59">
                        <a:alpha val="100000"/>
                      </a:srgbClr>
                    </a:gs>
                  </a:gsLst>
                  <a:lin ang="0"/>
                </a:gradFill>
                <a:latin typeface="Anton"/>
                <a:ea typeface="Anton"/>
                <a:cs typeface="Anton"/>
                <a:sym typeface="Anton"/>
              </a:rPr>
              <a:t>IMPORTANCIA DE LOS</a:t>
            </a:r>
          </a:p>
          <a:p>
            <a:pPr algn="ctr">
              <a:lnSpc>
                <a:spcPts val="14122"/>
              </a:lnSpc>
            </a:pPr>
            <a:r>
              <a:rPr lang="en-US" sz="10087">
                <a:gradFill>
                  <a:gsLst>
                    <a:gs pos="0">
                      <a:srgbClr val="FF66C4">
                        <a:alpha val="100000"/>
                      </a:srgbClr>
                    </a:gs>
                    <a:gs pos="100000">
                      <a:srgbClr val="FFDE59">
                        <a:alpha val="100000"/>
                      </a:srgbClr>
                    </a:gs>
                  </a:gsLst>
                  <a:lin ang="0"/>
                </a:gradFill>
                <a:latin typeface="Anton"/>
                <a:ea typeface="Anton"/>
                <a:cs typeface="Anton"/>
                <a:sym typeface="Anton"/>
              </a:rPr>
              <a:t> CUANTIFICADORES</a:t>
            </a:r>
          </a:p>
        </p:txBody>
      </p:sp>
      <p:sp>
        <p:nvSpPr>
          <p:cNvPr name="TextBox 3" id="3"/>
          <p:cNvSpPr txBox="true"/>
          <p:nvPr/>
        </p:nvSpPr>
        <p:spPr>
          <a:xfrm rot="0">
            <a:off x="1217121" y="3890892"/>
            <a:ext cx="15432035" cy="4930623"/>
          </a:xfrm>
          <a:prstGeom prst="rect">
            <a:avLst/>
          </a:prstGeom>
        </p:spPr>
        <p:txBody>
          <a:bodyPr anchor="t" rtlCol="false" tIns="0" lIns="0" bIns="0" rIns="0">
            <a:spAutoFit/>
          </a:bodyPr>
          <a:lstStyle/>
          <a:p>
            <a:pPr algn="l">
              <a:lnSpc>
                <a:spcPts val="4908"/>
              </a:lnSpc>
            </a:pPr>
            <a:r>
              <a:rPr lang="en-US" sz="3505" b="true">
                <a:solidFill>
                  <a:srgbClr val="FFFFFF"/>
                </a:solidFill>
                <a:latin typeface="Open Sans Bold"/>
                <a:ea typeface="Open Sans Bold"/>
                <a:cs typeface="Open Sans Bold"/>
                <a:sym typeface="Open Sans Bold"/>
              </a:rPr>
              <a:t> </a:t>
            </a:r>
            <a:r>
              <a:rPr lang="en-US" b="true" sz="3505" u="sng">
                <a:solidFill>
                  <a:srgbClr val="FFFFFF"/>
                </a:solidFill>
                <a:latin typeface="Open Sans Bold"/>
                <a:ea typeface="Open Sans Bold"/>
                <a:cs typeface="Open Sans Bold"/>
                <a:sym typeface="Open Sans Bold"/>
              </a:rPr>
              <a:t>Superan la lógica básica:</a:t>
            </a:r>
            <a:r>
              <a:rPr lang="en-US" sz="3505" b="true">
                <a:solidFill>
                  <a:srgbClr val="FFFFFF"/>
                </a:solidFill>
                <a:latin typeface="Open Sans Bold"/>
                <a:ea typeface="Open Sans Bold"/>
                <a:cs typeface="Open Sans Bold"/>
                <a:sym typeface="Open Sans Bold"/>
              </a:rPr>
              <a:t> Permiten ir más allá de oraciones aisladas para analizar elementos y grupos.</a:t>
            </a:r>
          </a:p>
          <a:p>
            <a:pPr algn="l">
              <a:lnSpc>
                <a:spcPts val="4908"/>
              </a:lnSpc>
            </a:pPr>
            <a:r>
              <a:rPr lang="en-US" b="true" sz="3505" u="sng">
                <a:solidFill>
                  <a:srgbClr val="FFFFFF"/>
                </a:solidFill>
                <a:latin typeface="Open Sans Bold"/>
                <a:ea typeface="Open Sans Bold"/>
                <a:cs typeface="Open Sans Bold"/>
                <a:sym typeface="Open Sans Bold"/>
              </a:rPr>
              <a:t> Poder de generalización:</a:t>
            </a:r>
            <a:r>
              <a:rPr lang="en-US" sz="3505" b="true">
                <a:solidFill>
                  <a:srgbClr val="FFFFFF"/>
                </a:solidFill>
                <a:latin typeface="Open Sans Bold"/>
                <a:ea typeface="Open Sans Bold"/>
                <a:cs typeface="Open Sans Bold"/>
                <a:sym typeface="Open Sans Bold"/>
              </a:rPr>
              <a:t> Son la herramienta clave para crear leyes y reglas matemáticas universales.</a:t>
            </a:r>
          </a:p>
          <a:p>
            <a:pPr algn="l">
              <a:lnSpc>
                <a:spcPts val="4908"/>
              </a:lnSpc>
            </a:pPr>
            <a:r>
              <a:rPr lang="en-US" sz="3505" b="true">
                <a:solidFill>
                  <a:srgbClr val="FFFFFF"/>
                </a:solidFill>
                <a:latin typeface="Open Sans Bold"/>
                <a:ea typeface="Open Sans Bold"/>
                <a:cs typeface="Open Sans Bold"/>
                <a:sym typeface="Open Sans Bold"/>
              </a:rPr>
              <a:t> </a:t>
            </a:r>
            <a:r>
              <a:rPr lang="en-US" b="true" sz="3505" u="sng">
                <a:solidFill>
                  <a:srgbClr val="FFFFFF"/>
                </a:solidFill>
                <a:latin typeface="Open Sans Bold"/>
                <a:ea typeface="Open Sans Bold"/>
                <a:cs typeface="Open Sans Bold"/>
                <a:sym typeface="Open Sans Bold"/>
              </a:rPr>
              <a:t>Precisión absoluta:</a:t>
            </a:r>
            <a:r>
              <a:rPr lang="en-US" sz="3505" b="true">
                <a:solidFill>
                  <a:srgbClr val="FFFFFF"/>
                </a:solidFill>
                <a:latin typeface="Open Sans Bold"/>
                <a:ea typeface="Open Sans Bold"/>
                <a:cs typeface="Open Sans Bold"/>
                <a:sym typeface="Open Sans Bold"/>
              </a:rPr>
              <a:t> Eliminan la ambigüedad del lenguaje humano, traduciéndolo a un formato exacto.</a:t>
            </a:r>
          </a:p>
          <a:p>
            <a:pPr algn="l">
              <a:lnSpc>
                <a:spcPts val="4908"/>
              </a:lnSpc>
            </a:pPr>
            <a:r>
              <a:rPr lang="en-US" sz="3505" b="true">
                <a:solidFill>
                  <a:srgbClr val="FFFFFF"/>
                </a:solidFill>
                <a:latin typeface="Open Sans Bold"/>
                <a:ea typeface="Open Sans Bold"/>
                <a:cs typeface="Open Sans Bold"/>
                <a:sym typeface="Open Sans Bold"/>
              </a:rPr>
              <a:t> </a:t>
            </a:r>
            <a:r>
              <a:rPr lang="en-US" b="true" sz="3505" u="sng">
                <a:solidFill>
                  <a:srgbClr val="FFFFFF"/>
                </a:solidFill>
                <a:latin typeface="Open Sans Bold"/>
                <a:ea typeface="Open Sans Bold"/>
                <a:cs typeface="Open Sans Bold"/>
                <a:sym typeface="Open Sans Bold"/>
              </a:rPr>
              <a:t>El motor de la deducción:</a:t>
            </a:r>
            <a:r>
              <a:rPr lang="en-US" sz="3505" b="true">
                <a:solidFill>
                  <a:srgbClr val="FFFFFF"/>
                </a:solidFill>
                <a:latin typeface="Open Sans Bold"/>
                <a:ea typeface="Open Sans Bold"/>
                <a:cs typeface="Open Sans Bold"/>
                <a:sym typeface="Open Sans Bold"/>
              </a:rPr>
              <a:t> Permiten plantear premisas generales que preparan el terreno para aplicar las *reglas de inferencia*.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655999" y="4864318"/>
            <a:ext cx="10614526" cy="4263501"/>
          </a:xfrm>
          <a:custGeom>
            <a:avLst/>
            <a:gdLst/>
            <a:ahLst/>
            <a:cxnLst/>
            <a:rect r="r" b="b" t="t" l="l"/>
            <a:pathLst>
              <a:path h="4263501" w="10614526">
                <a:moveTo>
                  <a:pt x="0" y="0"/>
                </a:moveTo>
                <a:lnTo>
                  <a:pt x="10614526" y="0"/>
                </a:lnTo>
                <a:lnTo>
                  <a:pt x="10614526" y="4263502"/>
                </a:lnTo>
                <a:lnTo>
                  <a:pt x="0" y="4263502"/>
                </a:lnTo>
                <a:lnTo>
                  <a:pt x="0" y="0"/>
                </a:lnTo>
                <a:close/>
              </a:path>
            </a:pathLst>
          </a:custGeom>
          <a:blipFill>
            <a:blip r:embed="rId2"/>
            <a:stretch>
              <a:fillRect l="0" t="0" r="0" b="0"/>
            </a:stretch>
          </a:blipFill>
        </p:spPr>
      </p:sp>
      <p:sp>
        <p:nvSpPr>
          <p:cNvPr name="TextBox 3" id="3"/>
          <p:cNvSpPr txBox="true"/>
          <p:nvPr/>
        </p:nvSpPr>
        <p:spPr>
          <a:xfrm rot="0">
            <a:off x="1449500" y="977742"/>
            <a:ext cx="15027522" cy="3195319"/>
          </a:xfrm>
          <a:prstGeom prst="rect">
            <a:avLst/>
          </a:prstGeom>
        </p:spPr>
        <p:txBody>
          <a:bodyPr anchor="t" rtlCol="false" tIns="0" lIns="0" bIns="0" rIns="0">
            <a:spAutoFit/>
          </a:bodyPr>
          <a:lstStyle/>
          <a:p>
            <a:pPr algn="ctr">
              <a:lnSpc>
                <a:spcPts val="12880"/>
              </a:lnSpc>
            </a:pPr>
            <a:r>
              <a:rPr lang="en-US" sz="9200" b="true">
                <a:solidFill>
                  <a:srgbClr val="FFFFFF"/>
                </a:solidFill>
                <a:latin typeface="Open Sans Bold"/>
                <a:ea typeface="Open Sans Bold"/>
                <a:cs typeface="Open Sans Bold"/>
                <a:sym typeface="Open Sans Bold"/>
              </a:rPr>
              <a:t>GRACIAS POR SU ATENCIÓN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DAHKJUrVArg</dc:identifier>
  <dcterms:modified xsi:type="dcterms:W3CDTF">2011-08-01T06:04:30Z</dcterms:modified>
  <cp:revision>1</cp:revision>
  <dc:title>cuantificadores</dc:title>
</cp:coreProperties>
</file>